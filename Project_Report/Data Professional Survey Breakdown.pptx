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6256000" cy="9144000"/>
  <p:notesSz cx="9144000" cy="16256000"/>
  <p:embeddedFontLst>
    <p:embeddedFont>
      <p:font typeface="Oranienbaum" charset="-122" pitchFamily="34"/>
      <p:regular r:id="rId15"/>
    </p:embeddedFont>
    <p:embeddedFont>
      <p:font typeface="Quattrocento Sans" charset="-122" pitchFamily="34"/>
      <p:regular r:id="rId1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4A52"/>
                </a:solidFill>
                <a:latin typeface="Arial"/>
              </a:defRPr>
            </a:pPr>
            <a:r>
              <a:rPr sz="1400" b="0" i="0" u="none" strike="noStrike">
                <a:solidFill>
                  <a:srgbClr val="2D4A52"/>
                </a:solidFill>
                <a:latin typeface="Arial"/>
              </a:rPr>
              <a:t>Average Salary by Job Title ($K)</a:t>
            </a:r>
          </a:p>
        </c:rich>
      </c:tx>
      <c:layout/>
      <c:overlay val="0"/>
    </c:title>
    <c:autoTitleDeleted val="0"/>
    <c:plotArea>
      <c:layout/>
      <c:barChart>
        <c:barDir val="bar"/>
        <c:grouping val="clustered"/>
        <c:varyColors val="0"/>
        <c:ser>
          <c:idx val="0"/>
          <c:order val="0"/>
          <c:tx>
            <c:strRef>
              <c:f>Sheet1!$B$1</c:f>
              <c:strCache>
                <c:ptCount val="1"/>
                <c:pt idx="0">
                  <c:v>Avg Salary ($K)</c:v>
                </c:pt>
              </c:strCache>
            </c:strRef>
          </c:tx>
          <c:spPr>
            <a:solidFill>
              <a:srgbClr val="2D4A52"/>
            </a:solidFill>
            <a:effectLst/>
          </c:spPr>
          <c:invertIfNegative val="0"/>
          <c:dLbls>
            <c:numFmt formatCode="#,##0" sourceLinked="0"/>
            <c:txPr>
              <a:bodyPr/>
              <a:lstStyle/>
              <a:p>
                <a:pPr>
                  <a:defRPr b="0" i="0" strike="noStrike" sz="1200" u="none">
                    <a:solidFill>
                      <a:srgbClr val="1C1C1E"/>
                    </a:solidFill>
                    <a:latin typeface="Arial"/>
                  </a:defRPr>
                </a:pPr>
              </a:p>
            </c:txPr>
            <c:showLegendKey val="0"/>
            <c:showVal val="1"/>
            <c:showCatName val="0"/>
            <c:showSerName val="0"/>
            <c:showPercent val="0"/>
            <c:showBubbleSize val="0"/>
            <c:showLeaderLines val="0"/>
          </c:dLbls>
          <c:cat>
            <c:multiLvlStrRef>
              <c:f>Sheet1!$A$2:$A$8</c:f>
              <c:multiLvlStrCache>
                <c:ptCount val="7"/>
                <c:lvl>
                  <c:pt idx="0">
                    <c:v>Student/Looking</c:v>
                  </c:pt>
                  <c:pt idx="1">
                    <c:v>Database Developer</c:v>
                  </c:pt>
                  <c:pt idx="2">
                    <c:v>Data Analyst</c:v>
                  </c:pt>
                  <c:pt idx="3">
                    <c:v>Other</c:v>
                  </c:pt>
                  <c:pt idx="4">
                    <c:v>Data Architect</c:v>
                  </c:pt>
                  <c:pt idx="5">
                    <c:v>Data Engineer</c:v>
                  </c:pt>
                  <c:pt idx="6">
                    <c:v>Data Scientist</c:v>
                  </c:pt>
                </c:lvl>
              </c:multiLvlStrCache>
            </c:multiLvlStrRef>
          </c:cat>
          <c:val>
            <c:numRef>
              <c:f>Sheet1!$B$2:$B$8</c:f>
              <c:numCache>
                <c:formatCode>General</c:formatCode>
                <c:ptCount val="7"/>
                <c:pt idx="0">
                  <c:v>27</c:v>
                </c:pt>
                <c:pt idx="1">
                  <c:v>33</c:v>
                </c:pt>
                <c:pt idx="2">
                  <c:v>55</c:v>
                </c:pt>
                <c:pt idx="3">
                  <c:v>61</c:v>
                </c:pt>
                <c:pt idx="4">
                  <c:v>64</c:v>
                </c:pt>
                <c:pt idx="5">
                  <c:v>65</c:v>
                </c:pt>
                <c:pt idx="6">
                  <c:v>94</c:v>
                </c:pt>
              </c:numCache>
            </c:numRef>
          </c:val>
        </c:ser>
        <c:dLbls>
          <c:numFmt formatCode="#,##0" sourceLinked="0"/>
          <c:txPr>
            <a:bodyPr/>
            <a:lstStyle/>
            <a:p>
              <a:pPr>
                <a:defRPr b="0" i="0" strike="noStrike" sz="1200" u="none">
                  <a:solidFill>
                    <a:srgbClr val="1C1C1E"/>
                  </a:solidFill>
                  <a:latin typeface="Arial"/>
                </a:defRPr>
              </a:pPr>
            </a:p>
          </c:txPr>
          <c:showLegendKey val="0"/>
          <c:showVal val="1"/>
          <c:showCatName val="0"/>
          <c:showSerName val="0"/>
          <c:showPercent val="0"/>
          <c:showBubbleSize val="0"/>
          <c:showLeaderLines val="0"/>
        </c:dLbls>
        <c:gapWidth val="56"/>
        <c:overlap val="0"/>
        <c:axId val="2094734554"/>
        <c:axId val="2094734552"/>
        <c:axId val="2094734556"/>
      </c:barChart>
      <c:catAx>
        <c:axId val="2094734554"/>
        <c:scaling>
          <c:orientation val="minMax"/>
        </c:scaling>
        <c:delete val="0"/>
        <c:axPos val="l"/>
        <c:majorGridlines>
          <c:spPr>
            <a:ln w="12700" cap="flat">
              <a:solidFill>
                <a:srgbClr val="e8e5df"/>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1C1E"/>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C1C1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4A52"/>
                </a:solidFill>
                <a:latin typeface="Arial"/>
              </a:defRPr>
            </a:pPr>
            <a:r>
              <a:rPr sz="1400" b="0" i="0" u="none" strike="noStrike">
                <a:solidFill>
                  <a:srgbClr val="2D4A52"/>
                </a:solidFill>
                <a:latin typeface="Arial"/>
              </a:rPr>
              <a:t>Favorite Programming Language</a:t>
            </a:r>
          </a:p>
        </c:rich>
      </c:tx>
      <c:layout/>
      <c:overlay val="0"/>
    </c:title>
    <c:autoTitleDeleted val="0"/>
    <c:plotArea>
      <c:layout/>
      <c:barChart>
        <c:barDir val="col"/>
        <c:grouping val="clustered"/>
        <c:varyColors val="0"/>
        <c:ser>
          <c:idx val="0"/>
          <c:order val="0"/>
          <c:tx>
            <c:strRef>
              <c:f>Sheet1!$B$1</c:f>
              <c:strCache>
                <c:ptCount val="1"/>
                <c:pt idx="0">
                  <c:v>No. of Voters</c:v>
                </c:pt>
              </c:strCache>
            </c:strRef>
          </c:tx>
          <c:spPr>
            <a:solidFill>
              <a:srgbClr val="C49A3C"/>
            </a:solidFill>
            <a:effectLst/>
          </c:spPr>
          <c:invertIfNegative val="0"/>
          <c:dLbls>
            <c:numFmt formatCode="#,##0" sourceLinked="0"/>
            <c:txPr>
              <a:bodyPr/>
              <a:lstStyle/>
              <a:p>
                <a:pPr>
                  <a:defRPr b="0" i="0" strike="noStrike" sz="1200" u="none">
                    <a:solidFill>
                      <a:srgbClr val="1C1C1E"/>
                    </a:solidFill>
                    <a:latin typeface="Arial"/>
                  </a:defRPr>
                </a:pPr>
              </a:p>
            </c:txPr>
            <c:showLegendKey val="0"/>
            <c:showVal val="1"/>
            <c:showCatName val="0"/>
            <c:showSerName val="0"/>
            <c:showPercent val="0"/>
            <c:showBubbleSize val="0"/>
            <c:showLeaderLines val="0"/>
          </c:dLbls>
          <c:cat>
            <c:multiLvlStrRef>
              <c:f>Sheet1!$A$2:$A$7</c:f>
              <c:multiLvlStrCache>
                <c:ptCount val="6"/>
                <c:lvl>
                  <c:pt idx="0">
                    <c:v>Python</c:v>
                  </c:pt>
                  <c:pt idx="1">
                    <c:v>R</c:v>
                  </c:pt>
                  <c:pt idx="2">
                    <c:v>Other</c:v>
                  </c:pt>
                  <c:pt idx="3">
                    <c:v>C/C++</c:v>
                  </c:pt>
                  <c:pt idx="4">
                    <c:v>JavaScript</c:v>
                  </c:pt>
                  <c:pt idx="5">
                    <c:v>Java</c:v>
                  </c:pt>
                </c:lvl>
              </c:multiLvlStrCache>
            </c:multiLvlStrRef>
          </c:cat>
          <c:val>
            <c:numRef>
              <c:f>Sheet1!$B$2:$B$7</c:f>
              <c:numCache>
                <c:formatCode>General</c:formatCode>
                <c:ptCount val="6"/>
                <c:pt idx="0">
                  <c:v>255</c:v>
                </c:pt>
                <c:pt idx="1">
                  <c:v>61</c:v>
                </c:pt>
                <c:pt idx="2">
                  <c:v>60</c:v>
                </c:pt>
                <c:pt idx="3">
                  <c:v>56</c:v>
                </c:pt>
                <c:pt idx="4">
                  <c:v>54</c:v>
                </c:pt>
                <c:pt idx="5">
                  <c:v>15</c:v>
                </c:pt>
              </c:numCache>
            </c:numRef>
          </c:val>
        </c:ser>
        <c:dLbls>
          <c:numFmt formatCode="#,##0" sourceLinked="0"/>
          <c:txPr>
            <a:bodyPr/>
            <a:lstStyle/>
            <a:p>
              <a:pPr>
                <a:defRPr b="0" i="0" strike="noStrike" sz="1200" u="none">
                  <a:solidFill>
                    <a:srgbClr val="1C1C1E"/>
                  </a:solidFill>
                  <a:latin typeface="Arial"/>
                </a:defRPr>
              </a:pPr>
            </a:p>
          </c:txPr>
          <c:showLegendKey val="0"/>
          <c:showVal val="1"/>
          <c:showCatName val="0"/>
          <c:showSerName val="0"/>
          <c:showPercent val="0"/>
          <c:showBubbleSize val="0"/>
          <c:showLeaderLines val="0"/>
        </c:dLbls>
        <c:gapWidth val="56"/>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C1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5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C1C1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4A52"/>
                </a:solidFill>
                <a:latin typeface="Arial"/>
              </a:defRPr>
            </a:pPr>
            <a:r>
              <a:rPr sz="1400" b="0" i="0" u="none" strike="noStrike">
                <a:solidFill>
                  <a:srgbClr val="2D4A52"/>
                </a:solidFill>
                <a:latin typeface="Arial"/>
              </a:rPr>
              <a:t>Survey Responses by Country</a:t>
            </a:r>
          </a:p>
        </c:rich>
      </c:tx>
      <c:layout/>
      <c:overlay val="0"/>
    </c:title>
    <c:autoTitleDeleted val="0"/>
    <c:plotArea>
      <c:layout/>
      <c:barChart>
        <c:barDir val="bar"/>
        <c:grouping val="clustered"/>
        <c:varyColors val="0"/>
        <c:ser>
          <c:idx val="0"/>
          <c:order val="0"/>
          <c:tx>
            <c:strRef>
              <c:f>Sheet1!$B$1</c:f>
              <c:strCache>
                <c:ptCount val="1"/>
                <c:pt idx="0">
                  <c:v>Survey Responses</c:v>
                </c:pt>
              </c:strCache>
            </c:strRef>
          </c:tx>
          <c:spPr>
            <a:solidFill>
              <a:srgbClr val="2D4A52"/>
            </a:solidFill>
            <a:effectLst/>
          </c:spPr>
          <c:invertIfNegative val="0"/>
          <c:dLbls>
            <c:numFmt formatCode="#,##0" sourceLinked="0"/>
            <c:txPr>
              <a:bodyPr/>
              <a:lstStyle/>
              <a:p>
                <a:pPr>
                  <a:defRPr b="0" i="0" strike="noStrike" sz="1100" u="none">
                    <a:solidFill>
                      <a:srgbClr val="1C1C1E"/>
                    </a:solidFill>
                    <a:latin typeface="Arial"/>
                  </a:defRPr>
                </a:pPr>
              </a:p>
            </c:txPr>
            <c:showLegendKey val="0"/>
            <c:showVal val="1"/>
            <c:showCatName val="0"/>
            <c:showSerName val="0"/>
            <c:showPercent val="0"/>
            <c:showBubbleSize val="0"/>
            <c:showLeaderLines val="0"/>
          </c:dLbls>
          <c:cat>
            <c:multiLvlStrRef>
              <c:f>Sheet1!$A$2:$A$5</c:f>
              <c:multiLvlStrCache>
                <c:ptCount val="4"/>
                <c:lvl>
                  <c:pt idx="0">
                    <c:v>United Kingdom</c:v>
                  </c:pt>
                  <c:pt idx="1">
                    <c:v>Canada</c:v>
                  </c:pt>
                  <c:pt idx="2">
                    <c:v>India</c:v>
                  </c:pt>
                  <c:pt idx="3">
                    <c:v>United States</c:v>
                  </c:pt>
                </c:lvl>
              </c:multiLvlStrCache>
            </c:multiLvlStrRef>
          </c:cat>
          <c:val>
            <c:numRef>
              <c:f>Sheet1!$B$2:$B$5</c:f>
              <c:numCache>
                <c:formatCode>General</c:formatCode>
                <c:ptCount val="4"/>
                <c:pt idx="0">
                  <c:v>1859</c:v>
                </c:pt>
                <c:pt idx="1">
                  <c:v>2186</c:v>
                </c:pt>
                <c:pt idx="2">
                  <c:v>2177</c:v>
                </c:pt>
                <c:pt idx="3">
                  <c:v>20651</c:v>
                </c:pt>
              </c:numCache>
            </c:numRef>
          </c:val>
        </c:ser>
        <c:dLbls>
          <c:numFmt formatCode="#,##0" sourceLinked="0"/>
          <c:txPr>
            <a:bodyPr/>
            <a:lstStyle/>
            <a:p>
              <a:pPr>
                <a:defRPr b="0" i="0" strike="noStrike" sz="1100" u="none">
                  <a:solidFill>
                    <a:srgbClr val="1C1C1E"/>
                  </a:solidFill>
                  <a:latin typeface="Arial"/>
                </a:defRPr>
              </a:pPr>
            </a:p>
          </c:txPr>
          <c:showLegendKey val="0"/>
          <c:showVal val="1"/>
          <c:showCatName val="0"/>
          <c:showSerName val="0"/>
          <c:showPercent val="0"/>
          <c:showBubbleSize val="0"/>
          <c:showLeaderLines val="0"/>
        </c:dLbls>
        <c:gapWidth val="56"/>
        <c:overlap val="0"/>
        <c:axId val="2094734554"/>
        <c:axId val="2094734552"/>
        <c:axId val="2094734556"/>
      </c:barChart>
      <c:catAx>
        <c:axId val="2094734554"/>
        <c:scaling>
          <c:orientation val="minMax"/>
        </c:scaling>
        <c:delete val="0"/>
        <c:axPos val="l"/>
        <c:majorGridlines>
          <c:spPr>
            <a:ln w="12700" cap="flat">
              <a:solidFill>
                <a:srgbClr val="e8e5df"/>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1C1E"/>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C1C1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4A52"/>
                </a:solidFill>
                <a:latin typeface="Arial"/>
              </a:defRPr>
            </a:pPr>
            <a:r>
              <a:rPr sz="1400" b="0" i="0" u="none" strike="noStrike">
                <a:solidFill>
                  <a:srgbClr val="2D4A52"/>
                </a:solidFill>
                <a:latin typeface="Arial"/>
              </a:rPr>
              <a:t>Difficulty Breaking into Data</a:t>
            </a:r>
          </a:p>
        </c:rich>
      </c:tx>
      <c:layout/>
      <c:overlay val="0"/>
    </c:title>
    <c:autoTitleDeleted val="0"/>
    <c:plotArea>
      <c:layout/>
      <c:doughnutChart>
        <c:varyColors val="1"/>
        <c:ser>
          <c:idx val="0"/>
          <c:order val="0"/>
          <c:tx>
            <c:strRef>
              <c:f>Sheet1!$B$1</c:f>
              <c:strCache>
                <c:ptCount val="1"/>
                <c:pt idx="0">
                  <c:v>value</c:v>
                </c:pt>
              </c:strCache>
            </c:strRef>
          </c:tx>
          <c:spPr>
            <a:solidFill>
              <a:schemeClr val="accent1"/>
            </a:solidFill>
            <a:ln w="9525" cap="flat">
              <a:solidFill>
                <a:srgbClr val="F9F9F9"/>
              </a:solidFill>
              <a:prstDash val="solid"/>
              <a:round/>
            </a:ln>
            <a:effectLst/>
          </c:spPr>
          <c:dPt>
            <c:idx val="0"/>
            <c:bubble3D val="0"/>
            <c:spPr>
              <a:solidFill>
                <a:srgbClr val="2D4A52"/>
              </a:solidFill>
              <a:effectLst/>
            </c:spPr>
          </c:dPt>
          <c:dPt>
            <c:idx val="1"/>
            <c:bubble3D val="0"/>
            <c:spPr>
              <a:solidFill>
                <a:srgbClr val="C49A3C"/>
              </a:solidFill>
              <a:effectLst/>
            </c:spPr>
          </c:dPt>
          <c:dPt>
            <c:idx val="2"/>
            <c:bubble3D val="0"/>
            <c:spPr>
              <a:solidFill>
                <a:srgbClr val="8B8175"/>
              </a:solidFill>
              <a:effectLst/>
            </c:spPr>
          </c:dPt>
          <c:dPt>
            <c:idx val="3"/>
            <c:bubble3D val="0"/>
            <c:spPr>
              <a:solidFill>
                <a:srgbClr val="5A7A82"/>
              </a:solidFill>
              <a:effectLst/>
            </c:spPr>
          </c:dPt>
          <c:dPt>
            <c:idx val="4"/>
            <c:bubble3D val="0"/>
            <c:spPr>
              <a:solidFill>
                <a:srgbClr val="D4B87A"/>
              </a:solidFill>
              <a:effectLst/>
            </c:spPr>
          </c:dPt>
          <c:dLbls>
            <c:dLbl>
              <c:idx val="0"/>
              <c:numFmt formatCode="0%" sourceLinked="0"/>
              <c:spPr/>
              <c:txPr>
                <a:bodyPr/>
                <a:lstStyle/>
                <a:p>
                  <a:pPr>
                    <a:defRPr sz="1100" b="0" i="0" u="none" strike="noStrike">
                      <a:solidFill>
                        <a:srgbClr val="1C1C1E"/>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1C1C1E"/>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1C1C1E"/>
                      </a:solidFill>
                      <a:latin typeface="Arial"/>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1C1C1E"/>
                      </a:solidFill>
                      <a:latin typeface="Arial"/>
                    </a:defRPr>
                  </a:pPr>
                </a:p>
              </c:txPr>
              <c:showLegendKey val="0"/>
              <c:showVal val="0"/>
              <c:showCatName val="0"/>
              <c:showSerName val="0"/>
              <c:showPercent val="1"/>
              <c:showBubbleSize val="0"/>
            </c:dLbl>
            <c:dLbl>
              <c:idx val="4"/>
              <c:numFmt formatCode="0%" sourceLinked="0"/>
              <c:spPr/>
              <c:txPr>
                <a:bodyPr/>
                <a:lstStyle/>
                <a:p>
                  <a:pPr>
                    <a:defRPr sz="1100" b="0" i="0" u="none" strike="noStrike">
                      <a:solidFill>
                        <a:srgbClr val="1C1C1E"/>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Neither easy nor difficult</c:v>
                </c:pt>
                <c:pt idx="1">
                  <c:v>Difficult</c:v>
                </c:pt>
                <c:pt idx="2">
                  <c:v>Easy</c:v>
                </c:pt>
                <c:pt idx="3">
                  <c:v>Very Difficult</c:v>
                </c:pt>
                <c:pt idx="4">
                  <c:v>Very Easy</c:v>
                </c:pt>
              </c:strCache>
            </c:strRef>
          </c:cat>
          <c:val>
            <c:numRef>
              <c:f>Sheet1!$B$2:$B$6</c:f>
              <c:numCache>
                <c:ptCount val="5"/>
                <c:pt idx="0">
                  <c:v>42.7</c:v>
                </c:pt>
                <c:pt idx="1">
                  <c:v>24.76</c:v>
                </c:pt>
                <c:pt idx="2">
                  <c:v>21.27</c:v>
                </c:pt>
                <c:pt idx="3">
                  <c:v>6.98</c:v>
                </c:pt>
                <c:pt idx="4">
                  <c:v>4.29</c:v>
                </c:pt>
              </c:numCache>
            </c:numRef>
          </c:val>
        </c:ser>
        <c:firstSliceAng val="0"/>
        <c:holeSize val="50"/>
      </c:doughnutChart>
      <c:spPr>
        <a:noFill/>
        <a:ln>
          <a:noFill/>
        </a:ln>
        <a:effectLst/>
      </c:spPr>
    </c:plotArea>
    <c:legend>
      <c:legendPos val="r"/>
      <c:overlay val="0"/>
      <c:txPr>
        <a:bodyPr/>
        <a:lstStyle/>
        <a:p>
          <a:pPr>
            <a:defRPr sz="1100">
              <a:solidFill>
                <a:srgbClr val="1C1C1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4A52"/>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1778000" y="2476500"/>
            <a:ext cx="12700000" cy="1651000"/>
          </a:xfrm>
          <a:prstGeom prst="rect">
            <a:avLst/>
          </a:prstGeom>
          <a:noFill/>
          <a:ln/>
        </p:spPr>
        <p:txBody>
          <a:bodyPr wrap="none" lIns="0" tIns="0" rIns="0" bIns="0" rtlCol="0" anchor="ctr"/>
          <a:lstStyle/>
          <a:p>
            <a:pPr algn="ctr">
              <a:lnSpc>
                <a:spcPct val="120000"/>
              </a:lnSpc>
            </a:pPr>
            <a:r>
              <a:rPr lang="en-US" sz="5200" spc="400" kern="0" dirty="0">
                <a:solidFill>
                  <a:srgbClr val="FFFFFF"/>
                </a:solidFill>
                <a:latin typeface="Oranienbaum" pitchFamily="34" charset="0"/>
                <a:ea typeface="Oranienbaum" pitchFamily="34" charset="-122"/>
                <a:cs typeface="Oranienbaum" pitchFamily="34" charset="-120"/>
              </a:rPr>
              <a:t>DATA PROFESSIONAL</a:t>
            </a:r>
            <a:endParaRPr lang="en-US" sz="5200" dirty="0"/>
          </a:p>
        </p:txBody>
      </p:sp>
      <p:sp>
        <p:nvSpPr>
          <p:cNvPr id="4" name="Text 2"/>
          <p:cNvSpPr/>
          <p:nvPr/>
        </p:nvSpPr>
        <p:spPr>
          <a:xfrm>
            <a:off x="1778000" y="4127500"/>
            <a:ext cx="12700000" cy="889000"/>
          </a:xfrm>
          <a:prstGeom prst="rect">
            <a:avLst/>
          </a:prstGeom>
          <a:noFill/>
          <a:ln/>
        </p:spPr>
        <p:txBody>
          <a:bodyPr wrap="none" lIns="0" tIns="0" rIns="0" bIns="0" rtlCol="0" anchor="ctr"/>
          <a:lstStyle/>
          <a:p>
            <a:pPr algn="ctr">
              <a:lnSpc>
                <a:spcPct val="120000"/>
              </a:lnSpc>
            </a:pPr>
            <a:r>
              <a:rPr lang="en-US" sz="5200" spc="400" kern="0" dirty="0">
                <a:solidFill>
                  <a:srgbClr val="FFFFFF"/>
                </a:solidFill>
                <a:latin typeface="Oranienbaum" pitchFamily="34" charset="0"/>
                <a:ea typeface="Oranienbaum" pitchFamily="34" charset="-122"/>
                <a:cs typeface="Oranienbaum" pitchFamily="34" charset="-120"/>
              </a:rPr>
              <a:t>SURVEY BREAKDOWN</a:t>
            </a:r>
            <a:endParaRPr lang="en-US" sz="5200" dirty="0"/>
          </a:p>
        </p:txBody>
      </p:sp>
      <p:sp>
        <p:nvSpPr>
          <p:cNvPr id="5" name="Shape 3"/>
          <p:cNvSpPr/>
          <p:nvPr/>
        </p:nvSpPr>
        <p:spPr>
          <a:xfrm>
            <a:off x="6223000" y="5270500"/>
            <a:ext cx="3810000" cy="25400"/>
          </a:xfrm>
          <a:prstGeom prst="rect">
            <a:avLst/>
          </a:prstGeom>
          <a:solidFill>
            <a:srgbClr val="C49A3C"/>
          </a:solidFill>
          <a:ln/>
        </p:spPr>
      </p:sp>
      <p:sp>
        <p:nvSpPr>
          <p:cNvPr id="6" name="Text 4"/>
          <p:cNvSpPr/>
          <p:nvPr/>
        </p:nvSpPr>
        <p:spPr>
          <a:xfrm>
            <a:off x="3048000" y="5524500"/>
            <a:ext cx="10160000" cy="381000"/>
          </a:xfrm>
          <a:prstGeom prst="rect">
            <a:avLst/>
          </a:prstGeom>
          <a:noFill/>
          <a:ln/>
        </p:spPr>
        <p:txBody>
          <a:bodyPr wrap="none" lIns="0" tIns="0" rIns="0" bIns="0" rtlCol="0" anchor="ctr"/>
          <a:lstStyle/>
          <a:p>
            <a:pPr algn="ctr">
              <a:lnSpc>
                <a:spcPct val="140000"/>
              </a:lnSpc>
            </a:pPr>
            <a:r>
              <a:rPr lang="en-US" sz="1800" dirty="0">
                <a:solidFill>
                  <a:srgbClr val="C49A3C"/>
                </a:solidFill>
                <a:latin typeface="Quattrocento Sans" pitchFamily="34" charset="0"/>
                <a:ea typeface="Quattrocento Sans" pitchFamily="34" charset="-122"/>
                <a:cs typeface="Quattrocento Sans" pitchFamily="34" charset="-120"/>
              </a:rPr>
              <a:t>An Interactive Power BI Dashboard Project</a:t>
            </a:r>
            <a:endParaRPr lang="en-US" sz="1800" dirty="0"/>
          </a:p>
        </p:txBody>
      </p:sp>
      <p:sp>
        <p:nvSpPr>
          <p:cNvPr id="7" name="Text 5"/>
          <p:cNvSpPr/>
          <p:nvPr/>
        </p:nvSpPr>
        <p:spPr>
          <a:xfrm>
            <a:off x="4318000" y="7620000"/>
            <a:ext cx="7620000" cy="355600"/>
          </a:xfrm>
          <a:prstGeom prst="rect">
            <a:avLst/>
          </a:prstGeom>
          <a:noFill/>
          <a:ln/>
        </p:spPr>
        <p:txBody>
          <a:bodyPr wrap="none" lIns="0" tIns="0" rIns="0" bIns="0" rtlCol="0" anchor="ctr"/>
          <a:lstStyle/>
          <a:p>
            <a:pPr algn="ctr">
              <a:lnSpc>
                <a:spcPct val="120000"/>
              </a:lnSpc>
            </a:pPr>
            <a:r>
              <a:rPr lang="en-US" sz="1600" dirty="0">
                <a:solidFill>
                  <a:srgbClr val="8B8175"/>
                </a:solidFill>
                <a:latin typeface="Quattrocento Sans" pitchFamily="34" charset="0"/>
                <a:ea typeface="Quattrocento Sans" pitchFamily="34" charset="-122"/>
                <a:cs typeface="Quattrocento Sans" pitchFamily="34" charset="-120"/>
              </a:rPr>
              <a:t>Anjali Sharma  |  B.Tech AIDS  |  Aspiring Data Analyst</a:t>
            </a:r>
            <a:endParaRPr lang="en-US" sz="1600" dirty="0"/>
          </a:p>
        </p:txBody>
      </p:sp>
      <p:sp>
        <p:nvSpPr>
          <p:cNvPr id="8" name="Shape 6"/>
          <p:cNvSpPr/>
          <p:nvPr/>
        </p:nvSpPr>
        <p:spPr>
          <a:xfrm>
            <a:off x="0" y="9093200"/>
            <a:ext cx="16256000" cy="50800"/>
          </a:xfrm>
          <a:prstGeom prst="rect">
            <a:avLst/>
          </a:prstGeom>
          <a:solidFill>
            <a:srgbClr val="C49A3C"/>
          </a:solidFill>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508000"/>
            <a:ext cx="13970000" cy="482600"/>
          </a:xfrm>
          <a:prstGeom prst="rect">
            <a:avLst/>
          </a:prstGeom>
          <a:noFill/>
          <a:ln/>
        </p:spPr>
        <p:txBody>
          <a:bodyPr wrap="none" lIns="0" tIns="0" rIns="0" bIns="0" rtlCol="0" anchor="ctr"/>
          <a:lstStyle/>
          <a:p>
            <a:pPr algn="l">
              <a:lnSpc>
                <a:spcPct val="130000"/>
              </a:lnSpc>
            </a:pPr>
            <a:r>
              <a:rPr lang="en-US" sz="2600" dirty="0">
                <a:solidFill>
                  <a:srgbClr val="2D4A52"/>
                </a:solidFill>
                <a:latin typeface="Oranienbaum" pitchFamily="34" charset="0"/>
                <a:ea typeface="Oranienbaum" pitchFamily="34" charset="-122"/>
                <a:cs typeface="Oranienbaum" pitchFamily="34" charset="-120"/>
              </a:rPr>
              <a:t>Project Objective: Transforming Survey Data into Actionable Career Intelligence</a:t>
            </a:r>
            <a:endParaRPr lang="en-US" sz="2600" dirty="0"/>
          </a:p>
        </p:txBody>
      </p:sp>
      <p:sp>
        <p:nvSpPr>
          <p:cNvPr id="4" name="Shape 2"/>
          <p:cNvSpPr/>
          <p:nvPr/>
        </p:nvSpPr>
        <p:spPr>
          <a:xfrm>
            <a:off x="762000" y="1066800"/>
            <a:ext cx="14732000" cy="12700"/>
          </a:xfrm>
          <a:prstGeom prst="rect">
            <a:avLst/>
          </a:prstGeom>
          <a:solidFill>
            <a:srgbClr val="D5D0C8"/>
          </a:solidFill>
          <a:ln/>
        </p:spPr>
      </p:sp>
      <p:sp>
        <p:nvSpPr>
          <p:cNvPr id="5" name="Text 3"/>
          <p:cNvSpPr/>
          <p:nvPr/>
        </p:nvSpPr>
        <p:spPr>
          <a:xfrm>
            <a:off x="762000" y="1333500"/>
            <a:ext cx="7112000" cy="33655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The data industry is one of the fastest-growing career domains, yet understanding compensation, skills, and challenges requires more than isolated statistics.</a:t>
            </a:r>
            <a:endParaRPr lang="en-US" sz="1800" dirty="0"/>
          </a:p>
          <a:p>
            <a:pPr algn="l">
              <a:lnSpc>
                <a:spcPct val="160000"/>
              </a:lnSpc>
              <a:spcBef>
                <a:spcPts val="1200"/>
              </a:spcBef>
            </a:pPr>
            <a:r>
              <a:rPr lang="en-US" sz="1800" dirty="0">
                <a:solidFill>
                  <a:srgbClr val="1C1C1E"/>
                </a:solidFill>
                <a:latin typeface="Quattrocento Sans" pitchFamily="34" charset="0"/>
                <a:ea typeface="Quattrocento Sans" pitchFamily="34" charset="-122"/>
                <a:cs typeface="Quattrocento Sans" pitchFamily="34" charset="-120"/>
              </a:rPr>
              <a:t>This project transforms </a:t>
            </a:r>
            <a:pPr algn="l">
              <a:lnSpc>
                <a:spcPct val="160000"/>
              </a:lnSpc>
              <a:spcBef>
                <a:spcPts val="1200"/>
              </a:spcBef>
            </a:pPr>
            <a:r>
              <a:rPr lang="en-US" sz="1800" b="1" dirty="0">
                <a:solidFill>
                  <a:srgbClr val="1C1C1E"/>
                </a:solidFill>
                <a:latin typeface="Quattrocento Sans" pitchFamily="34" charset="0"/>
                <a:ea typeface="Quattrocento Sans" pitchFamily="34" charset="-122"/>
                <a:cs typeface="Quattrocento Sans" pitchFamily="34" charset="-120"/>
              </a:rPr>
              <a:t>630+ raw survey responses</a:t>
            </a:r>
            <a:pPr algn="l">
              <a:lnSpc>
                <a:spcPct val="160000"/>
              </a:lnSpc>
              <a:spcBef>
                <a:spcPts val="1200"/>
              </a:spcBef>
            </a:pPr>
            <a:r>
              <a:rPr lang="en-US" sz="1800" dirty="0">
                <a:solidFill>
                  <a:srgbClr val="1C1C1E"/>
                </a:solidFill>
                <a:latin typeface="Quattrocento Sans" pitchFamily="34" charset="0"/>
                <a:ea typeface="Quattrocento Sans" pitchFamily="34" charset="-122"/>
                <a:cs typeface="Quattrocento Sans" pitchFamily="34" charset="-120"/>
              </a:rPr>
              <a:t> from data professionals worldwide into an interactive Power BI dashboard, enabling exploration of trends across countries, roles, programming languages, and career satisfaction metrics.</a:t>
            </a:r>
            <a:endParaRPr lang="en-US" sz="1800" dirty="0"/>
          </a:p>
        </p:txBody>
      </p:sp>
      <p:sp>
        <p:nvSpPr>
          <p:cNvPr id="6" name="Shape 4"/>
          <p:cNvSpPr/>
          <p:nvPr/>
        </p:nvSpPr>
        <p:spPr>
          <a:xfrm>
            <a:off x="8382000" y="1333500"/>
            <a:ext cx="3302000" cy="1270000"/>
          </a:xfrm>
          <a:prstGeom prst="rect">
            <a:avLst/>
          </a:prstGeom>
          <a:solidFill>
            <a:srgbClr val="E8E5DF"/>
          </a:solidFill>
          <a:ln/>
        </p:spPr>
      </p:sp>
      <p:sp>
        <p:nvSpPr>
          <p:cNvPr id="7" name="Text 5"/>
          <p:cNvSpPr/>
          <p:nvPr/>
        </p:nvSpPr>
        <p:spPr>
          <a:xfrm>
            <a:off x="8382000" y="1422400"/>
            <a:ext cx="3302000" cy="698500"/>
          </a:xfrm>
          <a:prstGeom prst="rect">
            <a:avLst/>
          </a:prstGeom>
          <a:noFill/>
          <a:ln/>
        </p:spPr>
        <p:txBody>
          <a:bodyPr wrap="none" lIns="0" tIns="0" rIns="0" bIns="0" rtlCol="0" anchor="ctr"/>
          <a:lstStyle/>
          <a:p>
            <a:pPr algn="ctr">
              <a:lnSpc>
                <a:spcPct val="120000"/>
              </a:lnSpc>
            </a:pPr>
            <a:r>
              <a:rPr lang="en-US" sz="4400" dirty="0">
                <a:solidFill>
                  <a:srgbClr val="C49A3C"/>
                </a:solidFill>
                <a:latin typeface="Oranienbaum" pitchFamily="34" charset="0"/>
                <a:ea typeface="Oranienbaum" pitchFamily="34" charset="-122"/>
                <a:cs typeface="Oranienbaum" pitchFamily="34" charset="-120"/>
              </a:rPr>
              <a:t>630+</a:t>
            </a:r>
            <a:endParaRPr lang="en-US" sz="4400" dirty="0"/>
          </a:p>
        </p:txBody>
      </p:sp>
      <p:sp>
        <p:nvSpPr>
          <p:cNvPr id="8" name="Text 6"/>
          <p:cNvSpPr/>
          <p:nvPr/>
        </p:nvSpPr>
        <p:spPr>
          <a:xfrm>
            <a:off x="8382000" y="2159000"/>
            <a:ext cx="3302000" cy="330200"/>
          </a:xfrm>
          <a:prstGeom prst="rect">
            <a:avLst/>
          </a:prstGeom>
          <a:noFill/>
          <a:ln/>
        </p:spPr>
        <p:txBody>
          <a:bodyPr wrap="none" lIns="0" tIns="0" rIns="0" bIns="0" rtlCol="0" anchor="ctr"/>
          <a:lstStyle/>
          <a:p>
            <a:pPr algn="ctr">
              <a:lnSpc>
                <a:spcPct val="120000"/>
              </a:lnSpc>
            </a:pPr>
            <a:r>
              <a:rPr lang="en-US" sz="1200" spc="200" kern="0" dirty="0">
                <a:solidFill>
                  <a:srgbClr val="8B8175"/>
                </a:solidFill>
                <a:latin typeface="Quattrocento Sans" pitchFamily="34" charset="0"/>
                <a:ea typeface="Quattrocento Sans" pitchFamily="34" charset="-122"/>
                <a:cs typeface="Quattrocento Sans" pitchFamily="34" charset="-120"/>
              </a:rPr>
              <a:t>SURVEY RESPONDENTS</a:t>
            </a:r>
            <a:endParaRPr lang="en-US" sz="1200" dirty="0"/>
          </a:p>
        </p:txBody>
      </p:sp>
      <p:sp>
        <p:nvSpPr>
          <p:cNvPr id="9" name="Shape 7"/>
          <p:cNvSpPr/>
          <p:nvPr/>
        </p:nvSpPr>
        <p:spPr>
          <a:xfrm>
            <a:off x="12192000" y="1333500"/>
            <a:ext cx="3302000" cy="1270000"/>
          </a:xfrm>
          <a:prstGeom prst="rect">
            <a:avLst/>
          </a:prstGeom>
          <a:solidFill>
            <a:srgbClr val="E8E5DF"/>
          </a:solidFill>
          <a:ln/>
        </p:spPr>
      </p:sp>
      <p:sp>
        <p:nvSpPr>
          <p:cNvPr id="10" name="Text 8"/>
          <p:cNvSpPr/>
          <p:nvPr/>
        </p:nvSpPr>
        <p:spPr>
          <a:xfrm>
            <a:off x="12192000" y="1422400"/>
            <a:ext cx="3302000" cy="698500"/>
          </a:xfrm>
          <a:prstGeom prst="rect">
            <a:avLst/>
          </a:prstGeom>
          <a:noFill/>
          <a:ln/>
        </p:spPr>
        <p:txBody>
          <a:bodyPr wrap="none" lIns="0" tIns="0" rIns="0" bIns="0" rtlCol="0" anchor="ctr"/>
          <a:lstStyle/>
          <a:p>
            <a:pPr algn="ctr">
              <a:lnSpc>
                <a:spcPct val="120000"/>
              </a:lnSpc>
            </a:pPr>
            <a:r>
              <a:rPr lang="en-US" sz="4400" dirty="0">
                <a:solidFill>
                  <a:srgbClr val="C49A3C"/>
                </a:solidFill>
                <a:latin typeface="Oranienbaum" pitchFamily="34" charset="0"/>
                <a:ea typeface="Oranienbaum" pitchFamily="34" charset="-122"/>
                <a:cs typeface="Oranienbaum" pitchFamily="34" charset="-120"/>
              </a:rPr>
              <a:t>10</a:t>
            </a:r>
            <a:endParaRPr lang="en-US" sz="4400" dirty="0"/>
          </a:p>
        </p:txBody>
      </p:sp>
      <p:sp>
        <p:nvSpPr>
          <p:cNvPr id="11" name="Text 9"/>
          <p:cNvSpPr/>
          <p:nvPr/>
        </p:nvSpPr>
        <p:spPr>
          <a:xfrm>
            <a:off x="12192000" y="2159000"/>
            <a:ext cx="3302000" cy="330200"/>
          </a:xfrm>
          <a:prstGeom prst="rect">
            <a:avLst/>
          </a:prstGeom>
          <a:noFill/>
          <a:ln/>
        </p:spPr>
        <p:txBody>
          <a:bodyPr wrap="none" lIns="0" tIns="0" rIns="0" bIns="0" rtlCol="0" anchor="ctr"/>
          <a:lstStyle/>
          <a:p>
            <a:pPr algn="ctr">
              <a:lnSpc>
                <a:spcPct val="120000"/>
              </a:lnSpc>
            </a:pPr>
            <a:r>
              <a:rPr lang="en-US" sz="1200" spc="200" kern="0" dirty="0">
                <a:solidFill>
                  <a:srgbClr val="8B8175"/>
                </a:solidFill>
                <a:latin typeface="Quattrocento Sans" pitchFamily="34" charset="0"/>
                <a:ea typeface="Quattrocento Sans" pitchFamily="34" charset="-122"/>
                <a:cs typeface="Quattrocento Sans" pitchFamily="34" charset="-120"/>
              </a:rPr>
              <a:t>DATA DIMENSIONS</a:t>
            </a:r>
            <a:endParaRPr lang="en-US" sz="1200" dirty="0"/>
          </a:p>
        </p:txBody>
      </p:sp>
      <p:sp>
        <p:nvSpPr>
          <p:cNvPr id="12" name="Text 10"/>
          <p:cNvSpPr/>
          <p:nvPr/>
        </p:nvSpPr>
        <p:spPr>
          <a:xfrm>
            <a:off x="8382000" y="4889500"/>
            <a:ext cx="7112000" cy="355600"/>
          </a:xfrm>
          <a:prstGeom prst="rect">
            <a:avLst/>
          </a:prstGeom>
          <a:noFill/>
          <a:ln/>
        </p:spPr>
        <p:txBody>
          <a:bodyPr wrap="none" lIns="0" tIns="0" rIns="0" bIns="0" rtlCol="0" anchor="ctr"/>
          <a:lstStyle/>
          <a:p>
            <a:pPr algn="l">
              <a:lnSpc>
                <a:spcPct val="120000"/>
              </a:lnSpc>
            </a:pPr>
            <a:r>
              <a:rPr lang="en-US" sz="1800" dirty="0">
                <a:solidFill>
                  <a:srgbClr val="2D4A52"/>
                </a:solidFill>
                <a:latin typeface="Oranienbaum" pitchFamily="34" charset="0"/>
                <a:ea typeface="Oranienbaum" pitchFamily="34" charset="-122"/>
                <a:cs typeface="Oranienbaum" pitchFamily="34" charset="-120"/>
              </a:rPr>
              <a:t>Key Questions the Dashboard Answers</a:t>
            </a:r>
            <a:endParaRPr lang="en-US" sz="1800" dirty="0"/>
          </a:p>
        </p:txBody>
      </p:sp>
      <p:sp>
        <p:nvSpPr>
          <p:cNvPr id="13" name="Shape 11"/>
          <p:cNvSpPr/>
          <p:nvPr/>
        </p:nvSpPr>
        <p:spPr>
          <a:xfrm>
            <a:off x="8382000" y="5308600"/>
            <a:ext cx="7112000" cy="12700"/>
          </a:xfrm>
          <a:prstGeom prst="rect">
            <a:avLst/>
          </a:prstGeom>
          <a:solidFill>
            <a:srgbClr val="D5D0C8"/>
          </a:solidFill>
          <a:ln/>
        </p:spPr>
      </p:sp>
      <p:sp>
        <p:nvSpPr>
          <p:cNvPr id="14" name="Text 12"/>
          <p:cNvSpPr/>
          <p:nvPr/>
        </p:nvSpPr>
        <p:spPr>
          <a:xfrm>
            <a:off x="8382000" y="5461000"/>
            <a:ext cx="7112000" cy="2095500"/>
          </a:xfrm>
          <a:prstGeom prst="rect">
            <a:avLst/>
          </a:prstGeom>
          <a:noFill/>
          <a:ln/>
        </p:spPr>
        <p:txBody>
          <a:bodyPr wrap="square" lIns="0" tIns="0" rIns="0" bIns="0" rtlCol="0" anchor="t"/>
          <a:lstStyle/>
          <a:p>
            <a:pPr algn="l">
              <a:lnSpc>
                <a:spcPct val="170000"/>
              </a:lnSpc>
            </a:pPr>
            <a:r>
              <a:rPr lang="en-US" sz="1600" dirty="0">
                <a:solidFill>
                  <a:srgbClr val="C49A3C"/>
                </a:solidFill>
                <a:latin typeface="Quattrocento Sans" pitchFamily="34" charset="0"/>
                <a:ea typeface="Quattrocento Sans" pitchFamily="34" charset="-122"/>
                <a:cs typeface="Quattrocento Sans" pitchFamily="34" charset="-120"/>
              </a:rPr>
              <a:t>■</a:t>
            </a:r>
            <a:pPr algn="l">
              <a:lnSpc>
                <a:spcPct val="170000"/>
              </a:lnSpc>
            </a:pPr>
            <a:r>
              <a:rPr lang="en-US" sz="1600" dirty="0">
                <a:solidFill>
                  <a:srgbClr val="1C1C1E"/>
                </a:solidFill>
                <a:latin typeface="Quattrocento Sans" pitchFamily="34" charset="0"/>
                <a:ea typeface="Quattrocento Sans" pitchFamily="34" charset="-122"/>
                <a:cs typeface="Quattrocento Sans" pitchFamily="34" charset="-120"/>
              </a:rPr>
              <a:t>  Which data roles offer the highest average salaries?</a:t>
            </a:r>
            <a:endParaRPr lang="en-US" sz="1600" dirty="0"/>
          </a:p>
          <a:p>
            <a:pPr algn="l">
              <a:lnSpc>
                <a:spcPct val="170000"/>
              </a:lnSpc>
            </a:pPr>
            <a:r>
              <a:rPr lang="en-US" sz="1600" dirty="0">
                <a:solidFill>
                  <a:srgbClr val="C49A3C"/>
                </a:solidFill>
                <a:latin typeface="Quattrocento Sans" pitchFamily="34" charset="0"/>
                <a:ea typeface="Quattrocento Sans" pitchFamily="34" charset="-122"/>
                <a:cs typeface="Quattrocento Sans" pitchFamily="34" charset="-120"/>
              </a:rPr>
              <a:t>■</a:t>
            </a:r>
            <a:pPr algn="l">
              <a:lnSpc>
                <a:spcPct val="170000"/>
              </a:lnSpc>
            </a:pPr>
            <a:r>
              <a:rPr lang="en-US" sz="1600" dirty="0">
                <a:solidFill>
                  <a:srgbClr val="1C1C1E"/>
                </a:solidFill>
                <a:latin typeface="Quattrocento Sans" pitchFamily="34" charset="0"/>
                <a:ea typeface="Quattrocento Sans" pitchFamily="34" charset="-122"/>
                <a:cs typeface="Quattrocento Sans" pitchFamily="34" charset="-120"/>
              </a:rPr>
              <a:t>  Which programming languages are most preferred?</a:t>
            </a:r>
            <a:endParaRPr lang="en-US" sz="1600" dirty="0"/>
          </a:p>
          <a:p>
            <a:pPr algn="l">
              <a:lnSpc>
                <a:spcPct val="170000"/>
              </a:lnSpc>
            </a:pPr>
            <a:r>
              <a:rPr lang="en-US" sz="1600" dirty="0">
                <a:solidFill>
                  <a:srgbClr val="C49A3C"/>
                </a:solidFill>
                <a:latin typeface="Quattrocento Sans" pitchFamily="34" charset="0"/>
                <a:ea typeface="Quattrocento Sans" pitchFamily="34" charset="-122"/>
                <a:cs typeface="Quattrocento Sans" pitchFamily="34" charset="-120"/>
              </a:rPr>
              <a:t>■</a:t>
            </a:r>
            <a:pPr algn="l">
              <a:lnSpc>
                <a:spcPct val="170000"/>
              </a:lnSpc>
            </a:pPr>
            <a:r>
              <a:rPr lang="en-US" sz="1600" dirty="0">
                <a:solidFill>
                  <a:srgbClr val="1C1C1E"/>
                </a:solidFill>
                <a:latin typeface="Quattrocento Sans" pitchFamily="34" charset="0"/>
                <a:ea typeface="Quattrocento Sans" pitchFamily="34" charset="-122"/>
                <a:cs typeface="Quattrocento Sans" pitchFamily="34" charset="-120"/>
              </a:rPr>
              <a:t>  How satisfied are professionals with work-life balance?</a:t>
            </a:r>
            <a:endParaRPr lang="en-US" sz="1600" dirty="0"/>
          </a:p>
          <a:p>
            <a:pPr algn="l">
              <a:lnSpc>
                <a:spcPct val="170000"/>
              </a:lnSpc>
            </a:pPr>
            <a:r>
              <a:rPr lang="en-US" sz="1600" dirty="0">
                <a:solidFill>
                  <a:srgbClr val="C49A3C"/>
                </a:solidFill>
                <a:latin typeface="Quattrocento Sans" pitchFamily="34" charset="0"/>
                <a:ea typeface="Quattrocento Sans" pitchFamily="34" charset="-122"/>
                <a:cs typeface="Quattrocento Sans" pitchFamily="34" charset="-120"/>
              </a:rPr>
              <a:t>■</a:t>
            </a:r>
            <a:pPr algn="l">
              <a:lnSpc>
                <a:spcPct val="170000"/>
              </a:lnSpc>
            </a:pPr>
            <a:r>
              <a:rPr lang="en-US" sz="1600" dirty="0">
                <a:solidFill>
                  <a:srgbClr val="1C1C1E"/>
                </a:solidFill>
                <a:latin typeface="Quattrocento Sans" pitchFamily="34" charset="0"/>
                <a:ea typeface="Quattrocento Sans" pitchFamily="34" charset="-122"/>
                <a:cs typeface="Quattrocento Sans" pitchFamily="34" charset="-120"/>
              </a:rPr>
              <a:t>  How difficult is it to break into the data industry?</a:t>
            </a:r>
            <a:endParaRPr lang="en-US" sz="1600" dirty="0"/>
          </a:p>
          <a:p>
            <a:pPr algn="l">
              <a:lnSpc>
                <a:spcPct val="170000"/>
              </a:lnSpc>
            </a:pPr>
            <a:r>
              <a:rPr lang="en-US" sz="1600" dirty="0">
                <a:solidFill>
                  <a:srgbClr val="C49A3C"/>
                </a:solidFill>
                <a:latin typeface="Quattrocento Sans" pitchFamily="34" charset="0"/>
                <a:ea typeface="Quattrocento Sans" pitchFamily="34" charset="-122"/>
                <a:cs typeface="Quattrocento Sans" pitchFamily="34" charset="-120"/>
              </a:rPr>
              <a:t>■</a:t>
            </a:r>
            <a:pPr algn="l">
              <a:lnSpc>
                <a:spcPct val="170000"/>
              </a:lnSpc>
            </a:pPr>
            <a:r>
              <a:rPr lang="en-US" sz="1600" dirty="0">
                <a:solidFill>
                  <a:srgbClr val="1C1C1E"/>
                </a:solidFill>
                <a:latin typeface="Quattrocento Sans" pitchFamily="34" charset="0"/>
                <a:ea typeface="Quattrocento Sans" pitchFamily="34" charset="-122"/>
                <a:cs typeface="Quattrocento Sans" pitchFamily="34" charset="-120"/>
              </a:rPr>
              <a:t>  Which countries contribute the most survey responses?</a:t>
            </a:r>
            <a:endParaRPr lang="en-US" sz="1600" dirty="0"/>
          </a:p>
        </p:txBody>
      </p:sp>
      <p:sp>
        <p:nvSpPr>
          <p:cNvPr id="15" name="Shape 13"/>
          <p:cNvSpPr/>
          <p:nvPr/>
        </p:nvSpPr>
        <p:spPr>
          <a:xfrm>
            <a:off x="762000" y="7747000"/>
            <a:ext cx="14732000" cy="1016000"/>
          </a:xfrm>
          <a:prstGeom prst="rect">
            <a:avLst/>
          </a:prstGeom>
          <a:solidFill>
            <a:srgbClr val="2D4A52"/>
          </a:solidFill>
          <a:ln/>
        </p:spPr>
      </p:sp>
      <p:sp>
        <p:nvSpPr>
          <p:cNvPr id="16" name="Text 14"/>
          <p:cNvSpPr/>
          <p:nvPr/>
        </p:nvSpPr>
        <p:spPr>
          <a:xfrm>
            <a:off x="1143000" y="7848600"/>
            <a:ext cx="13970000" cy="812800"/>
          </a:xfrm>
          <a:prstGeom prst="rect">
            <a:avLst/>
          </a:prstGeom>
          <a:noFill/>
          <a:ln/>
        </p:spPr>
        <p:txBody>
          <a:bodyPr wrap="square" lIns="0" tIns="0" rIns="0" bIns="0" rtlCol="0" anchor="ctr"/>
          <a:lstStyle/>
          <a:p>
            <a:pPr algn="l">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Mission:</a:t>
            </a:r>
            <a:pPr algn="l">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Using Power BI, Power Query, DAX, and Excel, the dashboard converts raw survey data into meaningful insights that support career planning, workforce analysis, and business intelligence decisions.</a:t>
            </a:r>
            <a:endParaRPr lang="en-US" sz="1800" dirty="0"/>
          </a:p>
        </p:txBody>
      </p:sp>
      <p:sp>
        <p:nvSpPr>
          <p:cNvPr id="17" name="Text 1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02 / 08</a:t>
            </a:r>
            <a:endParaRPr lang="en-US" sz="12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508000"/>
            <a:ext cx="13970000" cy="482600"/>
          </a:xfrm>
          <a:prstGeom prst="rect">
            <a:avLst/>
          </a:prstGeom>
          <a:noFill/>
          <a:ln/>
        </p:spPr>
        <p:txBody>
          <a:bodyPr wrap="none" lIns="0" tIns="0" rIns="0" bIns="0" rtlCol="0" anchor="ctr"/>
          <a:lstStyle/>
          <a:p>
            <a:pPr algn="l">
              <a:lnSpc>
                <a:spcPct val="130000"/>
              </a:lnSpc>
            </a:pPr>
            <a:r>
              <a:rPr lang="en-US" sz="2600" dirty="0">
                <a:solidFill>
                  <a:srgbClr val="2D4A52"/>
                </a:solidFill>
                <a:latin typeface="Oranienbaum" pitchFamily="34" charset="0"/>
                <a:ea typeface="Oranienbaum" pitchFamily="34" charset="-122"/>
                <a:cs typeface="Oranienbaum" pitchFamily="34" charset="-120"/>
              </a:rPr>
              <a:t>The Business Problem: A Data Gap in Understanding the Data Industry</a:t>
            </a:r>
            <a:endParaRPr lang="en-US" sz="2600" dirty="0"/>
          </a:p>
        </p:txBody>
      </p:sp>
      <p:sp>
        <p:nvSpPr>
          <p:cNvPr id="4" name="Shape 2"/>
          <p:cNvSpPr/>
          <p:nvPr/>
        </p:nvSpPr>
        <p:spPr>
          <a:xfrm>
            <a:off x="762000" y="1066800"/>
            <a:ext cx="14732000" cy="12700"/>
          </a:xfrm>
          <a:prstGeom prst="rect">
            <a:avLst/>
          </a:prstGeom>
          <a:solidFill>
            <a:srgbClr val="D5D0C8"/>
          </a:solidFill>
          <a:ln/>
        </p:spPr>
      </p:sp>
      <p:sp>
        <p:nvSpPr>
          <p:cNvPr id="5" name="Text 3"/>
          <p:cNvSpPr/>
          <p:nvPr/>
        </p:nvSpPr>
        <p:spPr>
          <a:xfrm>
            <a:off x="762000" y="1333500"/>
            <a:ext cx="14732000" cy="9525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Organizations, aspiring data professionals, and recruiters face a critical information gap when making decisions about careers, hiring, and workforce strategy in the rapidly evolving data industry.</a:t>
            </a:r>
            <a:endParaRPr lang="en-US" sz="1800" dirty="0"/>
          </a:p>
        </p:txBody>
      </p:sp>
      <p:sp>
        <p:nvSpPr>
          <p:cNvPr id="6" name="Shape 4"/>
          <p:cNvSpPr/>
          <p:nvPr/>
        </p:nvSpPr>
        <p:spPr>
          <a:xfrm>
            <a:off x="762000" y="2476500"/>
            <a:ext cx="4572000" cy="2794000"/>
          </a:xfrm>
          <a:prstGeom prst="rect">
            <a:avLst/>
          </a:prstGeom>
          <a:solidFill>
            <a:srgbClr val="E8E5DF"/>
          </a:solidFill>
          <a:ln/>
        </p:spPr>
      </p:sp>
      <p:sp>
        <p:nvSpPr>
          <p:cNvPr id="7" name="Shape 5"/>
          <p:cNvSpPr/>
          <p:nvPr/>
        </p:nvSpPr>
        <p:spPr>
          <a:xfrm>
            <a:off x="762000" y="2476500"/>
            <a:ext cx="50800" cy="2794000"/>
          </a:xfrm>
          <a:prstGeom prst="rect">
            <a:avLst/>
          </a:prstGeom>
          <a:solidFill>
            <a:srgbClr val="C49A3C"/>
          </a:solidFill>
          <a:ln/>
        </p:spPr>
      </p:sp>
      <p:sp>
        <p:nvSpPr>
          <p:cNvPr id="8" name="Text 6"/>
          <p:cNvSpPr/>
          <p:nvPr/>
        </p:nvSpPr>
        <p:spPr>
          <a:xfrm>
            <a:off x="1066800" y="2667000"/>
            <a:ext cx="4013200" cy="330200"/>
          </a:xfrm>
          <a:prstGeom prst="rect">
            <a:avLst/>
          </a:prstGeom>
          <a:noFill/>
          <a:ln/>
        </p:spPr>
        <p:txBody>
          <a:bodyPr wrap="none" lIns="0" tIns="0" rIns="0" bIns="0" rtlCol="0" anchor="ctr"/>
          <a:lstStyle/>
          <a:p>
            <a:pPr algn="l">
              <a:lnSpc>
                <a:spcPct val="120000"/>
              </a:lnSpc>
            </a:pPr>
            <a:r>
              <a:rPr lang="en-US" sz="1800" dirty="0">
                <a:solidFill>
                  <a:srgbClr val="2D4A52"/>
                </a:solidFill>
                <a:latin typeface="Oranienbaum" pitchFamily="34" charset="0"/>
                <a:ea typeface="Oranienbaum" pitchFamily="34" charset="-122"/>
                <a:cs typeface="Oranienbaum" pitchFamily="34" charset="-120"/>
              </a:rPr>
              <a:t>Salary Benchmarking Gap</a:t>
            </a:r>
            <a:endParaRPr lang="en-US" sz="1800" dirty="0"/>
          </a:p>
        </p:txBody>
      </p:sp>
      <p:sp>
        <p:nvSpPr>
          <p:cNvPr id="9" name="Text 7"/>
          <p:cNvSpPr/>
          <p:nvPr/>
        </p:nvSpPr>
        <p:spPr>
          <a:xfrm>
            <a:off x="1066800" y="3098800"/>
            <a:ext cx="4013200" cy="1905000"/>
          </a:xfrm>
          <a:prstGeom prst="rect">
            <a:avLst/>
          </a:prstGeom>
          <a:noFill/>
          <a:ln/>
        </p:spPr>
        <p:txBody>
          <a:bodyPr wrap="square" lIns="0" tIns="0" rIns="0" bIns="0" rtlCol="0" anchor="t"/>
          <a:lstStyle/>
          <a:p>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No centralized source to compare compensation across data roles, making it difficult for professionals to negotiate and for employers to remain competitive.</a:t>
            </a:r>
            <a:endParaRPr lang="en-US" sz="1600" dirty="0"/>
          </a:p>
        </p:txBody>
      </p:sp>
      <p:sp>
        <p:nvSpPr>
          <p:cNvPr id="10" name="Shape 8"/>
          <p:cNvSpPr/>
          <p:nvPr/>
        </p:nvSpPr>
        <p:spPr>
          <a:xfrm>
            <a:off x="5842000" y="2476500"/>
            <a:ext cx="4572000" cy="2794000"/>
          </a:xfrm>
          <a:prstGeom prst="rect">
            <a:avLst/>
          </a:prstGeom>
          <a:solidFill>
            <a:srgbClr val="E8E5DF"/>
          </a:solidFill>
          <a:ln/>
        </p:spPr>
      </p:sp>
      <p:sp>
        <p:nvSpPr>
          <p:cNvPr id="11" name="Shape 9"/>
          <p:cNvSpPr/>
          <p:nvPr/>
        </p:nvSpPr>
        <p:spPr>
          <a:xfrm>
            <a:off x="5842000" y="2476500"/>
            <a:ext cx="50800" cy="2794000"/>
          </a:xfrm>
          <a:prstGeom prst="rect">
            <a:avLst/>
          </a:prstGeom>
          <a:solidFill>
            <a:srgbClr val="C49A3C"/>
          </a:solidFill>
          <a:ln/>
        </p:spPr>
      </p:sp>
      <p:sp>
        <p:nvSpPr>
          <p:cNvPr id="12" name="Text 10"/>
          <p:cNvSpPr/>
          <p:nvPr/>
        </p:nvSpPr>
        <p:spPr>
          <a:xfrm>
            <a:off x="6146800" y="2667000"/>
            <a:ext cx="4013200" cy="330200"/>
          </a:xfrm>
          <a:prstGeom prst="rect">
            <a:avLst/>
          </a:prstGeom>
          <a:noFill/>
          <a:ln/>
        </p:spPr>
        <p:txBody>
          <a:bodyPr wrap="none" lIns="0" tIns="0" rIns="0" bIns="0" rtlCol="0" anchor="ctr"/>
          <a:lstStyle/>
          <a:p>
            <a:pPr algn="l">
              <a:lnSpc>
                <a:spcPct val="120000"/>
              </a:lnSpc>
            </a:pPr>
            <a:r>
              <a:rPr lang="en-US" sz="1800" dirty="0">
                <a:solidFill>
                  <a:srgbClr val="2D4A52"/>
                </a:solidFill>
                <a:latin typeface="Oranienbaum" pitchFamily="34" charset="0"/>
                <a:ea typeface="Oranienbaum" pitchFamily="34" charset="-122"/>
                <a:cs typeface="Oranienbaum" pitchFamily="34" charset="-120"/>
              </a:rPr>
              <a:t>Skill Demand Uncertainty</a:t>
            </a:r>
            <a:endParaRPr lang="en-US" sz="1800" dirty="0"/>
          </a:p>
        </p:txBody>
      </p:sp>
      <p:sp>
        <p:nvSpPr>
          <p:cNvPr id="13" name="Text 11"/>
          <p:cNvSpPr/>
          <p:nvPr/>
        </p:nvSpPr>
        <p:spPr>
          <a:xfrm>
            <a:off x="6146800" y="3098800"/>
            <a:ext cx="4013200" cy="1905000"/>
          </a:xfrm>
          <a:prstGeom prst="rect">
            <a:avLst/>
          </a:prstGeom>
          <a:noFill/>
          <a:ln/>
        </p:spPr>
        <p:txBody>
          <a:bodyPr wrap="square" lIns="0" tIns="0" rIns="0" bIns="0" rtlCol="0" anchor="t"/>
          <a:lstStyle/>
          <a:p>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Aspiring professionals struggle to identify which programming languages and skills are most valued by employers in the current data job market.</a:t>
            </a:r>
            <a:endParaRPr lang="en-US" sz="1600" dirty="0"/>
          </a:p>
        </p:txBody>
      </p:sp>
      <p:sp>
        <p:nvSpPr>
          <p:cNvPr id="14" name="Shape 12"/>
          <p:cNvSpPr/>
          <p:nvPr/>
        </p:nvSpPr>
        <p:spPr>
          <a:xfrm>
            <a:off x="10922000" y="2476500"/>
            <a:ext cx="4572000" cy="2794000"/>
          </a:xfrm>
          <a:prstGeom prst="rect">
            <a:avLst/>
          </a:prstGeom>
          <a:solidFill>
            <a:srgbClr val="E8E5DF"/>
          </a:solidFill>
          <a:ln/>
        </p:spPr>
      </p:sp>
      <p:sp>
        <p:nvSpPr>
          <p:cNvPr id="15" name="Shape 13"/>
          <p:cNvSpPr/>
          <p:nvPr/>
        </p:nvSpPr>
        <p:spPr>
          <a:xfrm>
            <a:off x="10922000" y="2476500"/>
            <a:ext cx="50800" cy="2794000"/>
          </a:xfrm>
          <a:prstGeom prst="rect">
            <a:avLst/>
          </a:prstGeom>
          <a:solidFill>
            <a:srgbClr val="C49A3C"/>
          </a:solidFill>
          <a:ln/>
        </p:spPr>
      </p:sp>
      <p:sp>
        <p:nvSpPr>
          <p:cNvPr id="16" name="Text 14"/>
          <p:cNvSpPr/>
          <p:nvPr/>
        </p:nvSpPr>
        <p:spPr>
          <a:xfrm>
            <a:off x="11226800" y="2667000"/>
            <a:ext cx="4013200" cy="330200"/>
          </a:xfrm>
          <a:prstGeom prst="rect">
            <a:avLst/>
          </a:prstGeom>
          <a:noFill/>
          <a:ln/>
        </p:spPr>
        <p:txBody>
          <a:bodyPr wrap="none" lIns="0" tIns="0" rIns="0" bIns="0" rtlCol="0" anchor="ctr"/>
          <a:lstStyle/>
          <a:p>
            <a:pPr algn="l">
              <a:lnSpc>
                <a:spcPct val="120000"/>
              </a:lnSpc>
            </a:pPr>
            <a:r>
              <a:rPr lang="en-US" sz="1800" dirty="0">
                <a:solidFill>
                  <a:srgbClr val="2D4A52"/>
                </a:solidFill>
                <a:latin typeface="Oranienbaum" pitchFamily="34" charset="0"/>
                <a:ea typeface="Oranienbaum" pitchFamily="34" charset="-122"/>
                <a:cs typeface="Oranienbaum" pitchFamily="34" charset="-120"/>
              </a:rPr>
              <a:t>Career Satisfaction Blindspot</a:t>
            </a:r>
            <a:endParaRPr lang="en-US" sz="1800" dirty="0"/>
          </a:p>
        </p:txBody>
      </p:sp>
      <p:sp>
        <p:nvSpPr>
          <p:cNvPr id="17" name="Text 15"/>
          <p:cNvSpPr/>
          <p:nvPr/>
        </p:nvSpPr>
        <p:spPr>
          <a:xfrm>
            <a:off x="11226800" y="3098800"/>
            <a:ext cx="4013200" cy="1905000"/>
          </a:xfrm>
          <a:prstGeom prst="rect">
            <a:avLst/>
          </a:prstGeom>
          <a:noFill/>
          <a:ln/>
        </p:spPr>
        <p:txBody>
          <a:bodyPr wrap="square" lIns="0" tIns="0" rIns="0" bIns="0" rtlCol="0" anchor="t"/>
          <a:lstStyle/>
          <a:p>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Employers lack visibility into work-life balance and salary satisfaction trends, missing opportunities to improve retention and workplace culture.</a:t>
            </a:r>
            <a:endParaRPr lang="en-US" sz="1600" dirty="0"/>
          </a:p>
        </p:txBody>
      </p:sp>
      <p:sp>
        <p:nvSpPr>
          <p:cNvPr id="18" name="Shape 16"/>
          <p:cNvSpPr/>
          <p:nvPr/>
        </p:nvSpPr>
        <p:spPr>
          <a:xfrm>
            <a:off x="762000" y="5524500"/>
            <a:ext cx="14732000" cy="635000"/>
          </a:xfrm>
          <a:prstGeom prst="rect">
            <a:avLst/>
          </a:prstGeom>
          <a:solidFill>
            <a:srgbClr val="2D4A52"/>
          </a:solidFill>
          <a:ln/>
        </p:spPr>
      </p:sp>
      <p:sp>
        <p:nvSpPr>
          <p:cNvPr id="19" name="Text 17"/>
          <p:cNvSpPr/>
          <p:nvPr/>
        </p:nvSpPr>
        <p:spPr>
          <a:xfrm>
            <a:off x="1143000" y="5524500"/>
            <a:ext cx="13970000" cy="635000"/>
          </a:xfrm>
          <a:prstGeom prst="rect">
            <a:avLst/>
          </a:prstGeom>
          <a:noFill/>
          <a:ln/>
        </p:spPr>
        <p:txBody>
          <a:bodyPr wrap="none" lIns="0" tIns="0" rIns="0" bIns="0" rtlCol="0" anchor="ctr"/>
          <a:lstStyle/>
          <a:p>
            <a:pPr algn="l">
              <a:lnSpc>
                <a:spcPct val="120000"/>
              </a:lnSpc>
            </a:pPr>
            <a:r>
              <a:rPr lang="en-US" sz="2000" dirty="0">
                <a:solidFill>
                  <a:srgbClr val="FFFFFF"/>
                </a:solidFill>
                <a:latin typeface="Oranienbaum" pitchFamily="34" charset="0"/>
                <a:ea typeface="Oranienbaum" pitchFamily="34" charset="-122"/>
                <a:cs typeface="Oranienbaum" pitchFamily="34" charset="-120"/>
              </a:rPr>
              <a:t>The Solution: An Interactive Power BI Dashboard</a:t>
            </a:r>
            <a:endParaRPr lang="en-US" sz="2000" dirty="0"/>
          </a:p>
        </p:txBody>
      </p:sp>
      <p:sp>
        <p:nvSpPr>
          <p:cNvPr id="20" name="Text 18"/>
          <p:cNvSpPr/>
          <p:nvPr/>
        </p:nvSpPr>
        <p:spPr>
          <a:xfrm>
            <a:off x="762000" y="6413500"/>
            <a:ext cx="14732000" cy="16510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This dashboard provides a </a:t>
            </a:r>
            <a:pPr algn="l">
              <a:lnSpc>
                <a:spcPct val="160000"/>
              </a:lnSpc>
            </a:pPr>
            <a:r>
              <a:rPr lang="en-US" sz="1800" b="1" dirty="0">
                <a:solidFill>
                  <a:srgbClr val="1C1C1E"/>
                </a:solidFill>
                <a:latin typeface="Quattrocento Sans" pitchFamily="34" charset="0"/>
                <a:ea typeface="Quattrocento Sans" pitchFamily="34" charset="-122"/>
                <a:cs typeface="Quattrocento Sans" pitchFamily="34" charset="-120"/>
              </a:rPr>
              <a:t>centralized, interactive view</a:t>
            </a:r>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 that answers critical industry questions through dynamic visualizations. Users can filter by country and gender, explore salary trends by job title, analyze programming language preferences, gauge career difficulty perceptions, and measure satisfaction levels - all in a single, user-friendly interface.</a:t>
            </a:r>
            <a:endParaRPr lang="en-US" sz="1800" dirty="0"/>
          </a:p>
        </p:txBody>
      </p:sp>
      <p:sp>
        <p:nvSpPr>
          <p:cNvPr id="21" name="Text 19"/>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03 / 08</a:t>
            </a:r>
            <a:endParaRPr lang="en-US" sz="12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508000"/>
            <a:ext cx="13970000" cy="482600"/>
          </a:xfrm>
          <a:prstGeom prst="rect">
            <a:avLst/>
          </a:prstGeom>
          <a:noFill/>
          <a:ln/>
        </p:spPr>
        <p:txBody>
          <a:bodyPr wrap="none" lIns="0" tIns="0" rIns="0" bIns="0" rtlCol="0" anchor="ctr"/>
          <a:lstStyle/>
          <a:p>
            <a:pPr algn="l">
              <a:lnSpc>
                <a:spcPct val="130000"/>
              </a:lnSpc>
            </a:pPr>
            <a:r>
              <a:rPr lang="en-US" sz="2600" dirty="0">
                <a:solidFill>
                  <a:srgbClr val="2D4A52"/>
                </a:solidFill>
                <a:latin typeface="Oranienbaum" pitchFamily="34" charset="0"/>
                <a:ea typeface="Oranienbaum" pitchFamily="34" charset="-122"/>
                <a:cs typeface="Oranienbaum" pitchFamily="34" charset="-120"/>
              </a:rPr>
              <a:t>Tools, Technologies &amp; Dataset Architecture</a:t>
            </a:r>
            <a:endParaRPr lang="en-US" sz="2600" dirty="0"/>
          </a:p>
        </p:txBody>
      </p:sp>
      <p:sp>
        <p:nvSpPr>
          <p:cNvPr id="4" name="Shape 2"/>
          <p:cNvSpPr/>
          <p:nvPr/>
        </p:nvSpPr>
        <p:spPr>
          <a:xfrm>
            <a:off x="762000" y="1066800"/>
            <a:ext cx="14732000" cy="12700"/>
          </a:xfrm>
          <a:prstGeom prst="rect">
            <a:avLst/>
          </a:prstGeom>
          <a:solidFill>
            <a:srgbClr val="D5D0C8"/>
          </a:solidFill>
          <a:ln/>
        </p:spPr>
      </p:sp>
      <p:sp>
        <p:nvSpPr>
          <p:cNvPr id="5" name="Text 3"/>
          <p:cNvSpPr/>
          <p:nvPr/>
        </p:nvSpPr>
        <p:spPr>
          <a:xfrm>
            <a:off x="762000" y="1333500"/>
            <a:ext cx="6858000" cy="355600"/>
          </a:xfrm>
          <a:prstGeom prst="rect">
            <a:avLst/>
          </a:prstGeom>
          <a:noFill/>
          <a:ln/>
        </p:spPr>
        <p:txBody>
          <a:bodyPr wrap="none" lIns="0" tIns="0" rIns="0" bIns="0" rtlCol="0" anchor="ctr"/>
          <a:lstStyle/>
          <a:p>
            <a:pPr algn="l">
              <a:lnSpc>
                <a:spcPct val="120000"/>
              </a:lnSpc>
            </a:pPr>
            <a:r>
              <a:rPr lang="en-US" sz="2000" dirty="0">
                <a:solidFill>
                  <a:srgbClr val="2D4A52"/>
                </a:solidFill>
                <a:latin typeface="Oranienbaum" pitchFamily="34" charset="0"/>
                <a:ea typeface="Oranienbaum" pitchFamily="34" charset="-122"/>
                <a:cs typeface="Oranienbaum" pitchFamily="34" charset="-120"/>
              </a:rPr>
              <a:t>Technology Stack</a:t>
            </a:r>
            <a:endParaRPr lang="en-US" sz="2000" dirty="0"/>
          </a:p>
        </p:txBody>
      </p:sp>
      <p:sp>
        <p:nvSpPr>
          <p:cNvPr id="6" name="Shape 4"/>
          <p:cNvSpPr/>
          <p:nvPr/>
        </p:nvSpPr>
        <p:spPr>
          <a:xfrm>
            <a:off x="762000" y="1752600"/>
            <a:ext cx="6858000" cy="12700"/>
          </a:xfrm>
          <a:prstGeom prst="rect">
            <a:avLst/>
          </a:prstGeom>
          <a:solidFill>
            <a:srgbClr val="D5D0C8"/>
          </a:solidFill>
          <a:ln/>
        </p:spPr>
      </p:sp>
      <p:sp>
        <p:nvSpPr>
          <p:cNvPr id="7" name="Shape 5"/>
          <p:cNvSpPr/>
          <p:nvPr/>
        </p:nvSpPr>
        <p:spPr>
          <a:xfrm>
            <a:off x="914400" y="2057400"/>
            <a:ext cx="355600" cy="355600"/>
          </a:xfrm>
          <a:custGeom>
            <a:avLst/>
            <a:gdLst/>
            <a:ahLst/>
            <a:cxnLst/>
            <a:rect l="l" t="t" r="r" b="b"/>
            <a:pathLst>
              <a:path w="355600" h="355600">
                <a:moveTo>
                  <a:pt x="22225" y="22225"/>
                </a:moveTo>
                <a:cubicBezTo>
                  <a:pt x="34518" y="22225"/>
                  <a:pt x="44450" y="32157"/>
                  <a:pt x="44450" y="44450"/>
                </a:cubicBezTo>
                <a:lnTo>
                  <a:pt x="44450" y="277813"/>
                </a:lnTo>
                <a:cubicBezTo>
                  <a:pt x="44450" y="283924"/>
                  <a:pt x="49451" y="288925"/>
                  <a:pt x="55563" y="288925"/>
                </a:cubicBezTo>
                <a:lnTo>
                  <a:pt x="333375" y="288925"/>
                </a:lnTo>
                <a:cubicBezTo>
                  <a:pt x="345668" y="288925"/>
                  <a:pt x="355600" y="298857"/>
                  <a:pt x="355600" y="311150"/>
                </a:cubicBezTo>
                <a:cubicBezTo>
                  <a:pt x="355600" y="323443"/>
                  <a:pt x="345668" y="333375"/>
                  <a:pt x="333375" y="333375"/>
                </a:cubicBezTo>
                <a:lnTo>
                  <a:pt x="55563" y="333375"/>
                </a:lnTo>
                <a:cubicBezTo>
                  <a:pt x="24864" y="333375"/>
                  <a:pt x="0" y="308511"/>
                  <a:pt x="0" y="277813"/>
                </a:cubicBezTo>
                <a:lnTo>
                  <a:pt x="0" y="44450"/>
                </a:lnTo>
                <a:cubicBezTo>
                  <a:pt x="0" y="32157"/>
                  <a:pt x="9932" y="22225"/>
                  <a:pt x="22225" y="22225"/>
                </a:cubicBezTo>
                <a:close/>
                <a:moveTo>
                  <a:pt x="100013" y="155575"/>
                </a:moveTo>
                <a:cubicBezTo>
                  <a:pt x="112306" y="155575"/>
                  <a:pt x="122238" y="165507"/>
                  <a:pt x="122238" y="177800"/>
                </a:cubicBezTo>
                <a:lnTo>
                  <a:pt x="122238" y="222250"/>
                </a:lnTo>
                <a:cubicBezTo>
                  <a:pt x="122238" y="234543"/>
                  <a:pt x="112306" y="244475"/>
                  <a:pt x="100013" y="244475"/>
                </a:cubicBezTo>
                <a:cubicBezTo>
                  <a:pt x="87719" y="244475"/>
                  <a:pt x="77788" y="234543"/>
                  <a:pt x="77788" y="222250"/>
                </a:cubicBezTo>
                <a:lnTo>
                  <a:pt x="77788" y="177800"/>
                </a:lnTo>
                <a:cubicBezTo>
                  <a:pt x="77788" y="165507"/>
                  <a:pt x="87719" y="155575"/>
                  <a:pt x="100013" y="155575"/>
                </a:cubicBezTo>
                <a:close/>
                <a:moveTo>
                  <a:pt x="200025" y="111125"/>
                </a:moveTo>
                <a:lnTo>
                  <a:pt x="200025" y="222250"/>
                </a:lnTo>
                <a:cubicBezTo>
                  <a:pt x="200025" y="234543"/>
                  <a:pt x="190093" y="244475"/>
                  <a:pt x="177800" y="244475"/>
                </a:cubicBezTo>
                <a:cubicBezTo>
                  <a:pt x="165507" y="244475"/>
                  <a:pt x="155575" y="234543"/>
                  <a:pt x="155575" y="222250"/>
                </a:cubicBezTo>
                <a:lnTo>
                  <a:pt x="155575" y="111125"/>
                </a:lnTo>
                <a:cubicBezTo>
                  <a:pt x="155575" y="98832"/>
                  <a:pt x="165507" y="88900"/>
                  <a:pt x="177800" y="88900"/>
                </a:cubicBezTo>
                <a:cubicBezTo>
                  <a:pt x="190093" y="88900"/>
                  <a:pt x="200025" y="98832"/>
                  <a:pt x="200025" y="111125"/>
                </a:cubicBezTo>
                <a:close/>
                <a:moveTo>
                  <a:pt x="255587" y="133350"/>
                </a:moveTo>
                <a:cubicBezTo>
                  <a:pt x="267881" y="133350"/>
                  <a:pt x="277813" y="143282"/>
                  <a:pt x="277813" y="155575"/>
                </a:cubicBezTo>
                <a:lnTo>
                  <a:pt x="277813" y="222250"/>
                </a:lnTo>
                <a:cubicBezTo>
                  <a:pt x="277813" y="234543"/>
                  <a:pt x="267881" y="244475"/>
                  <a:pt x="255587" y="244475"/>
                </a:cubicBezTo>
                <a:cubicBezTo>
                  <a:pt x="243294" y="244475"/>
                  <a:pt x="233363" y="234543"/>
                  <a:pt x="233363" y="222250"/>
                </a:cubicBezTo>
                <a:lnTo>
                  <a:pt x="233363" y="155575"/>
                </a:lnTo>
                <a:cubicBezTo>
                  <a:pt x="233363" y="143282"/>
                  <a:pt x="243294" y="133350"/>
                  <a:pt x="255587" y="133350"/>
                </a:cubicBezTo>
                <a:close/>
                <a:moveTo>
                  <a:pt x="355600" y="66675"/>
                </a:moveTo>
                <a:lnTo>
                  <a:pt x="355600" y="222250"/>
                </a:lnTo>
                <a:cubicBezTo>
                  <a:pt x="355600" y="234543"/>
                  <a:pt x="345668" y="244475"/>
                  <a:pt x="333375" y="244475"/>
                </a:cubicBezTo>
                <a:cubicBezTo>
                  <a:pt x="321082" y="244475"/>
                  <a:pt x="311150" y="234543"/>
                  <a:pt x="311150" y="222250"/>
                </a:cubicBezTo>
                <a:lnTo>
                  <a:pt x="311150" y="66675"/>
                </a:lnTo>
                <a:cubicBezTo>
                  <a:pt x="311150" y="54382"/>
                  <a:pt x="321082" y="44450"/>
                  <a:pt x="333375" y="44450"/>
                </a:cubicBezTo>
                <a:cubicBezTo>
                  <a:pt x="345668" y="44450"/>
                  <a:pt x="355600" y="54382"/>
                  <a:pt x="355600" y="66675"/>
                </a:cubicBezTo>
                <a:close/>
              </a:path>
            </a:pathLst>
          </a:custGeom>
          <a:solidFill>
            <a:srgbClr val="C49A3C"/>
          </a:solidFill>
          <a:ln/>
        </p:spPr>
      </p:sp>
      <p:sp>
        <p:nvSpPr>
          <p:cNvPr id="8" name="Text 6"/>
          <p:cNvSpPr/>
          <p:nvPr/>
        </p:nvSpPr>
        <p:spPr>
          <a:xfrm>
            <a:off x="1422400" y="2006600"/>
            <a:ext cx="2540000" cy="304800"/>
          </a:xfrm>
          <a:prstGeom prst="rect">
            <a:avLst/>
          </a:prstGeom>
          <a:noFill/>
          <a:ln/>
        </p:spPr>
        <p:txBody>
          <a:bodyPr wrap="none" lIns="0" tIns="0" rIns="0" bIns="0" rtlCol="0" anchor="ctr"/>
          <a:lstStyle/>
          <a:p>
            <a:pPr algn="l">
              <a:lnSpc>
                <a:spcPct val="120000"/>
              </a:lnSpc>
            </a:pPr>
            <a:r>
              <a:rPr lang="en-US" sz="1800" b="1" dirty="0">
                <a:solidFill>
                  <a:srgbClr val="1C1C1E"/>
                </a:solidFill>
                <a:latin typeface="Quattrocento Sans" pitchFamily="34" charset="0"/>
                <a:ea typeface="Quattrocento Sans" pitchFamily="34" charset="-122"/>
                <a:cs typeface="Quattrocento Sans" pitchFamily="34" charset="-120"/>
              </a:rPr>
              <a:t>Power BI</a:t>
            </a:r>
            <a:endParaRPr lang="en-US" sz="1800" dirty="0"/>
          </a:p>
        </p:txBody>
      </p:sp>
      <p:sp>
        <p:nvSpPr>
          <p:cNvPr id="9" name="Text 7"/>
          <p:cNvSpPr/>
          <p:nvPr/>
        </p:nvSpPr>
        <p:spPr>
          <a:xfrm>
            <a:off x="1422400" y="2336800"/>
            <a:ext cx="6096000" cy="279400"/>
          </a:xfrm>
          <a:prstGeom prst="rect">
            <a:avLst/>
          </a:prstGeom>
          <a:noFill/>
          <a:ln/>
        </p:spPr>
        <p:txBody>
          <a:bodyPr wrap="none" lIns="0" tIns="0" rIns="0" bIns="0" rtlCol="0" anchor="ctr"/>
          <a:lstStyle/>
          <a:p>
            <a:pPr algn="l">
              <a:lnSpc>
                <a:spcPct val="120000"/>
              </a:lnSpc>
            </a:pPr>
            <a:r>
              <a:rPr lang="en-US" sz="1400" dirty="0">
                <a:solidFill>
                  <a:srgbClr val="8B8175"/>
                </a:solidFill>
                <a:latin typeface="Quattrocento Sans" pitchFamily="34" charset="0"/>
                <a:ea typeface="Quattrocento Sans" pitchFamily="34" charset="-122"/>
                <a:cs typeface="Quattrocento Sans" pitchFamily="34" charset="-120"/>
              </a:rPr>
              <a:t>Interactive dashboard and visualization platform</a:t>
            </a:r>
            <a:endParaRPr lang="en-US" sz="1400" dirty="0"/>
          </a:p>
        </p:txBody>
      </p:sp>
      <p:sp>
        <p:nvSpPr>
          <p:cNvPr id="10" name="Shape 8"/>
          <p:cNvSpPr/>
          <p:nvPr/>
        </p:nvSpPr>
        <p:spPr>
          <a:xfrm>
            <a:off x="914400" y="2870200"/>
            <a:ext cx="355600" cy="355600"/>
          </a:xfrm>
          <a:custGeom>
            <a:avLst/>
            <a:gdLst/>
            <a:ahLst/>
            <a:cxnLst/>
            <a:rect l="l" t="t" r="r" b="b"/>
            <a:pathLst>
              <a:path w="355600" h="355600">
                <a:moveTo>
                  <a:pt x="22225" y="44450"/>
                </a:moveTo>
                <a:cubicBezTo>
                  <a:pt x="13266" y="44450"/>
                  <a:pt x="5140" y="49867"/>
                  <a:pt x="1667" y="58202"/>
                </a:cubicBezTo>
                <a:cubicBezTo>
                  <a:pt x="-1806" y="66536"/>
                  <a:pt x="139" y="76051"/>
                  <a:pt x="6529" y="82371"/>
                </a:cubicBezTo>
                <a:lnTo>
                  <a:pt x="133350" y="209262"/>
                </a:lnTo>
                <a:lnTo>
                  <a:pt x="133350" y="288925"/>
                </a:lnTo>
                <a:cubicBezTo>
                  <a:pt x="133350" y="294829"/>
                  <a:pt x="135711" y="300454"/>
                  <a:pt x="139879" y="304621"/>
                </a:cubicBezTo>
                <a:lnTo>
                  <a:pt x="184329" y="349071"/>
                </a:lnTo>
                <a:cubicBezTo>
                  <a:pt x="190718" y="355461"/>
                  <a:pt x="200233" y="357336"/>
                  <a:pt x="208568" y="353864"/>
                </a:cubicBezTo>
                <a:cubicBezTo>
                  <a:pt x="216902" y="350391"/>
                  <a:pt x="222250" y="342334"/>
                  <a:pt x="222250" y="333375"/>
                </a:cubicBezTo>
                <a:lnTo>
                  <a:pt x="222250" y="209262"/>
                </a:lnTo>
                <a:lnTo>
                  <a:pt x="349071" y="82441"/>
                </a:lnTo>
                <a:cubicBezTo>
                  <a:pt x="355461" y="76051"/>
                  <a:pt x="357336" y="66536"/>
                  <a:pt x="353864" y="58202"/>
                </a:cubicBezTo>
                <a:cubicBezTo>
                  <a:pt x="350391" y="49867"/>
                  <a:pt x="342334" y="44450"/>
                  <a:pt x="333375" y="44450"/>
                </a:cubicBezTo>
                <a:lnTo>
                  <a:pt x="22225" y="44450"/>
                </a:lnTo>
                <a:close/>
              </a:path>
            </a:pathLst>
          </a:custGeom>
          <a:solidFill>
            <a:srgbClr val="C49A3C"/>
          </a:solidFill>
          <a:ln/>
        </p:spPr>
      </p:sp>
      <p:sp>
        <p:nvSpPr>
          <p:cNvPr id="11" name="Text 9"/>
          <p:cNvSpPr/>
          <p:nvPr/>
        </p:nvSpPr>
        <p:spPr>
          <a:xfrm>
            <a:off x="1422400" y="2819400"/>
            <a:ext cx="2540000" cy="304800"/>
          </a:xfrm>
          <a:prstGeom prst="rect">
            <a:avLst/>
          </a:prstGeom>
          <a:noFill/>
          <a:ln/>
        </p:spPr>
        <p:txBody>
          <a:bodyPr wrap="none" lIns="0" tIns="0" rIns="0" bIns="0" rtlCol="0" anchor="ctr"/>
          <a:lstStyle/>
          <a:p>
            <a:pPr algn="l">
              <a:lnSpc>
                <a:spcPct val="120000"/>
              </a:lnSpc>
            </a:pPr>
            <a:r>
              <a:rPr lang="en-US" sz="1800" b="1" dirty="0">
                <a:solidFill>
                  <a:srgbClr val="1C1C1E"/>
                </a:solidFill>
                <a:latin typeface="Quattrocento Sans" pitchFamily="34" charset="0"/>
                <a:ea typeface="Quattrocento Sans" pitchFamily="34" charset="-122"/>
                <a:cs typeface="Quattrocento Sans" pitchFamily="34" charset="-120"/>
              </a:rPr>
              <a:t>Power Query</a:t>
            </a:r>
            <a:endParaRPr lang="en-US" sz="1800" dirty="0"/>
          </a:p>
        </p:txBody>
      </p:sp>
      <p:sp>
        <p:nvSpPr>
          <p:cNvPr id="12" name="Text 10"/>
          <p:cNvSpPr/>
          <p:nvPr/>
        </p:nvSpPr>
        <p:spPr>
          <a:xfrm>
            <a:off x="1422400" y="3149600"/>
            <a:ext cx="6096000" cy="279400"/>
          </a:xfrm>
          <a:prstGeom prst="rect">
            <a:avLst/>
          </a:prstGeom>
          <a:noFill/>
          <a:ln/>
        </p:spPr>
        <p:txBody>
          <a:bodyPr wrap="none" lIns="0" tIns="0" rIns="0" bIns="0" rtlCol="0" anchor="ctr"/>
          <a:lstStyle/>
          <a:p>
            <a:pPr algn="l">
              <a:lnSpc>
                <a:spcPct val="120000"/>
              </a:lnSpc>
            </a:pPr>
            <a:r>
              <a:rPr lang="en-US" sz="1400" dirty="0">
                <a:solidFill>
                  <a:srgbClr val="8B8175"/>
                </a:solidFill>
                <a:latin typeface="Quattrocento Sans" pitchFamily="34" charset="0"/>
                <a:ea typeface="Quattrocento Sans" pitchFamily="34" charset="-122"/>
                <a:cs typeface="Quattrocento Sans" pitchFamily="34" charset="-120"/>
              </a:rPr>
              <a:t>Data cleaning and transformation engine</a:t>
            </a:r>
            <a:endParaRPr lang="en-US" sz="1400" dirty="0"/>
          </a:p>
        </p:txBody>
      </p:sp>
      <p:sp>
        <p:nvSpPr>
          <p:cNvPr id="13" name="Shape 11"/>
          <p:cNvSpPr/>
          <p:nvPr/>
        </p:nvSpPr>
        <p:spPr>
          <a:xfrm>
            <a:off x="914400" y="3683000"/>
            <a:ext cx="355600" cy="355600"/>
          </a:xfrm>
          <a:custGeom>
            <a:avLst/>
            <a:gdLst/>
            <a:ahLst/>
            <a:cxnLst/>
            <a:rect l="l" t="t" r="r" b="b"/>
            <a:pathLst>
              <a:path w="355600" h="355600">
                <a:moveTo>
                  <a:pt x="0" y="44450"/>
                </a:moveTo>
                <a:cubicBezTo>
                  <a:pt x="0" y="19933"/>
                  <a:pt x="26577" y="0"/>
                  <a:pt x="59267" y="0"/>
                </a:cubicBezTo>
                <a:lnTo>
                  <a:pt x="197710" y="0"/>
                </a:lnTo>
                <a:cubicBezTo>
                  <a:pt x="213453" y="0"/>
                  <a:pt x="228547" y="4653"/>
                  <a:pt x="239660" y="12988"/>
                </a:cubicBezTo>
                <a:lnTo>
                  <a:pt x="338283" y="87025"/>
                </a:lnTo>
                <a:cubicBezTo>
                  <a:pt x="349396" y="95359"/>
                  <a:pt x="355600" y="106680"/>
                  <a:pt x="355600" y="118487"/>
                </a:cubicBezTo>
                <a:lnTo>
                  <a:pt x="355600" y="311150"/>
                </a:lnTo>
                <a:cubicBezTo>
                  <a:pt x="355600" y="335667"/>
                  <a:pt x="329023" y="355600"/>
                  <a:pt x="296333" y="355600"/>
                </a:cubicBezTo>
                <a:lnTo>
                  <a:pt x="59267" y="355600"/>
                </a:lnTo>
                <a:cubicBezTo>
                  <a:pt x="26577" y="355600"/>
                  <a:pt x="0" y="335667"/>
                  <a:pt x="0" y="311150"/>
                </a:cubicBezTo>
                <a:lnTo>
                  <a:pt x="0" y="44450"/>
                </a:lnTo>
                <a:close/>
                <a:moveTo>
                  <a:pt x="192617" y="40630"/>
                </a:moveTo>
                <a:lnTo>
                  <a:pt x="192617" y="105569"/>
                </a:lnTo>
                <a:cubicBezTo>
                  <a:pt x="192617" y="114806"/>
                  <a:pt x="202525" y="122238"/>
                  <a:pt x="214842" y="122238"/>
                </a:cubicBezTo>
                <a:lnTo>
                  <a:pt x="301427" y="122238"/>
                </a:lnTo>
                <a:lnTo>
                  <a:pt x="192617" y="40630"/>
                </a:lnTo>
                <a:close/>
                <a:moveTo>
                  <a:pt x="151871" y="185231"/>
                </a:moveTo>
                <a:cubicBezTo>
                  <a:pt x="145018" y="177592"/>
                  <a:pt x="131220" y="175508"/>
                  <a:pt x="121034" y="180578"/>
                </a:cubicBezTo>
                <a:cubicBezTo>
                  <a:pt x="110847" y="185648"/>
                  <a:pt x="108069" y="196066"/>
                  <a:pt x="114829" y="203706"/>
                </a:cubicBezTo>
                <a:lnTo>
                  <a:pt x="151130" y="244475"/>
                </a:lnTo>
                <a:lnTo>
                  <a:pt x="114829" y="285244"/>
                </a:lnTo>
                <a:cubicBezTo>
                  <a:pt x="107976" y="292884"/>
                  <a:pt x="110755" y="303232"/>
                  <a:pt x="121034" y="308372"/>
                </a:cubicBezTo>
                <a:cubicBezTo>
                  <a:pt x="131313" y="313511"/>
                  <a:pt x="145018" y="311428"/>
                  <a:pt x="151871" y="303719"/>
                </a:cubicBezTo>
                <a:lnTo>
                  <a:pt x="177800" y="274548"/>
                </a:lnTo>
                <a:lnTo>
                  <a:pt x="203729" y="303719"/>
                </a:lnTo>
                <a:cubicBezTo>
                  <a:pt x="210582" y="311358"/>
                  <a:pt x="224380" y="313442"/>
                  <a:pt x="234566" y="308372"/>
                </a:cubicBezTo>
                <a:cubicBezTo>
                  <a:pt x="244753" y="303302"/>
                  <a:pt x="247531" y="292884"/>
                  <a:pt x="240771" y="285244"/>
                </a:cubicBezTo>
                <a:lnTo>
                  <a:pt x="204470" y="244475"/>
                </a:lnTo>
                <a:lnTo>
                  <a:pt x="240771" y="203706"/>
                </a:lnTo>
                <a:cubicBezTo>
                  <a:pt x="247624" y="196066"/>
                  <a:pt x="244845" y="185718"/>
                  <a:pt x="234566" y="180578"/>
                </a:cubicBezTo>
                <a:cubicBezTo>
                  <a:pt x="224287" y="175439"/>
                  <a:pt x="210582" y="177522"/>
                  <a:pt x="203729" y="185231"/>
                </a:cubicBezTo>
                <a:lnTo>
                  <a:pt x="177800" y="214402"/>
                </a:lnTo>
                <a:lnTo>
                  <a:pt x="151871" y="185231"/>
                </a:lnTo>
                <a:close/>
              </a:path>
            </a:pathLst>
          </a:custGeom>
          <a:solidFill>
            <a:srgbClr val="C49A3C"/>
          </a:solidFill>
          <a:ln/>
        </p:spPr>
      </p:sp>
      <p:sp>
        <p:nvSpPr>
          <p:cNvPr id="14" name="Text 12"/>
          <p:cNvSpPr/>
          <p:nvPr/>
        </p:nvSpPr>
        <p:spPr>
          <a:xfrm>
            <a:off x="1422400" y="3632200"/>
            <a:ext cx="2540000" cy="304800"/>
          </a:xfrm>
          <a:prstGeom prst="rect">
            <a:avLst/>
          </a:prstGeom>
          <a:noFill/>
          <a:ln/>
        </p:spPr>
        <p:txBody>
          <a:bodyPr wrap="none" lIns="0" tIns="0" rIns="0" bIns="0" rtlCol="0" anchor="ctr"/>
          <a:lstStyle/>
          <a:p>
            <a:pPr algn="l">
              <a:lnSpc>
                <a:spcPct val="120000"/>
              </a:lnSpc>
            </a:pPr>
            <a:r>
              <a:rPr lang="en-US" sz="1800" b="1" dirty="0">
                <a:solidFill>
                  <a:srgbClr val="1C1C1E"/>
                </a:solidFill>
                <a:latin typeface="Quattrocento Sans" pitchFamily="34" charset="0"/>
                <a:ea typeface="Quattrocento Sans" pitchFamily="34" charset="-122"/>
                <a:cs typeface="Quattrocento Sans" pitchFamily="34" charset="-120"/>
              </a:rPr>
              <a:t>Microsoft Excel</a:t>
            </a:r>
            <a:endParaRPr lang="en-US" sz="1800" dirty="0"/>
          </a:p>
        </p:txBody>
      </p:sp>
      <p:sp>
        <p:nvSpPr>
          <p:cNvPr id="15" name="Text 13"/>
          <p:cNvSpPr/>
          <p:nvPr/>
        </p:nvSpPr>
        <p:spPr>
          <a:xfrm>
            <a:off x="1422400" y="3962400"/>
            <a:ext cx="6096000" cy="279400"/>
          </a:xfrm>
          <a:prstGeom prst="rect">
            <a:avLst/>
          </a:prstGeom>
          <a:noFill/>
          <a:ln/>
        </p:spPr>
        <p:txBody>
          <a:bodyPr wrap="none" lIns="0" tIns="0" rIns="0" bIns="0" rtlCol="0" anchor="ctr"/>
          <a:lstStyle/>
          <a:p>
            <a:pPr algn="l">
              <a:lnSpc>
                <a:spcPct val="120000"/>
              </a:lnSpc>
            </a:pPr>
            <a:r>
              <a:rPr lang="en-US" sz="1400" dirty="0">
                <a:solidFill>
                  <a:srgbClr val="8B8175"/>
                </a:solidFill>
                <a:latin typeface="Quattrocento Sans" pitchFamily="34" charset="0"/>
                <a:ea typeface="Quattrocento Sans" pitchFamily="34" charset="-122"/>
                <a:cs typeface="Quattrocento Sans" pitchFamily="34" charset="-120"/>
              </a:rPr>
              <a:t>Source data storage and initial processing</a:t>
            </a:r>
            <a:endParaRPr lang="en-US" sz="1400" dirty="0"/>
          </a:p>
        </p:txBody>
      </p:sp>
      <p:sp>
        <p:nvSpPr>
          <p:cNvPr id="16" name="Shape 14"/>
          <p:cNvSpPr/>
          <p:nvPr/>
        </p:nvSpPr>
        <p:spPr>
          <a:xfrm>
            <a:off x="914400" y="4495800"/>
            <a:ext cx="355600" cy="355600"/>
          </a:xfrm>
          <a:custGeom>
            <a:avLst/>
            <a:gdLst/>
            <a:ahLst/>
            <a:cxnLst/>
            <a:rect l="l" t="t" r="r" b="b"/>
            <a:pathLst>
              <a:path w="355600" h="355600">
                <a:moveTo>
                  <a:pt x="59267" y="0"/>
                </a:moveTo>
                <a:cubicBezTo>
                  <a:pt x="26577" y="0"/>
                  <a:pt x="0" y="19933"/>
                  <a:pt x="0" y="44450"/>
                </a:cubicBezTo>
                <a:lnTo>
                  <a:pt x="0" y="311150"/>
                </a:lnTo>
                <a:cubicBezTo>
                  <a:pt x="0" y="335667"/>
                  <a:pt x="26577" y="355600"/>
                  <a:pt x="59267" y="355600"/>
                </a:cubicBezTo>
                <a:lnTo>
                  <a:pt x="296333" y="355600"/>
                </a:lnTo>
                <a:cubicBezTo>
                  <a:pt x="329023" y="355600"/>
                  <a:pt x="355600" y="335667"/>
                  <a:pt x="355600" y="311150"/>
                </a:cubicBezTo>
                <a:lnTo>
                  <a:pt x="355600" y="44450"/>
                </a:lnTo>
                <a:cubicBezTo>
                  <a:pt x="355600" y="19933"/>
                  <a:pt x="329023" y="0"/>
                  <a:pt x="296333" y="0"/>
                </a:cubicBezTo>
                <a:lnTo>
                  <a:pt x="59267" y="0"/>
                </a:lnTo>
                <a:close/>
                <a:moveTo>
                  <a:pt x="88900" y="44450"/>
                </a:moveTo>
                <a:lnTo>
                  <a:pt x="266700" y="44450"/>
                </a:lnTo>
                <a:cubicBezTo>
                  <a:pt x="283091" y="44450"/>
                  <a:pt x="296333" y="54382"/>
                  <a:pt x="296333" y="66675"/>
                </a:cubicBezTo>
                <a:lnTo>
                  <a:pt x="296333" y="88900"/>
                </a:lnTo>
                <a:cubicBezTo>
                  <a:pt x="296333" y="101193"/>
                  <a:pt x="283091" y="111125"/>
                  <a:pt x="266700" y="111125"/>
                </a:cubicBezTo>
                <a:lnTo>
                  <a:pt x="88900" y="111125"/>
                </a:lnTo>
                <a:cubicBezTo>
                  <a:pt x="72509" y="111125"/>
                  <a:pt x="59267" y="101193"/>
                  <a:pt x="59267" y="88900"/>
                </a:cubicBezTo>
                <a:lnTo>
                  <a:pt x="59267" y="66675"/>
                </a:lnTo>
                <a:cubicBezTo>
                  <a:pt x="59267" y="54382"/>
                  <a:pt x="72509" y="44450"/>
                  <a:pt x="88900" y="44450"/>
                </a:cubicBezTo>
                <a:close/>
                <a:moveTo>
                  <a:pt x="103717" y="161131"/>
                </a:moveTo>
                <a:cubicBezTo>
                  <a:pt x="103717" y="170331"/>
                  <a:pt x="93758" y="177800"/>
                  <a:pt x="81492" y="177800"/>
                </a:cubicBezTo>
                <a:cubicBezTo>
                  <a:pt x="69225" y="177800"/>
                  <a:pt x="59267" y="170331"/>
                  <a:pt x="59267" y="161131"/>
                </a:cubicBezTo>
                <a:cubicBezTo>
                  <a:pt x="59267" y="151932"/>
                  <a:pt x="69225" y="144463"/>
                  <a:pt x="81492" y="144463"/>
                </a:cubicBezTo>
                <a:cubicBezTo>
                  <a:pt x="93758" y="144463"/>
                  <a:pt x="103717" y="151932"/>
                  <a:pt x="103717" y="161131"/>
                </a:cubicBezTo>
                <a:close/>
                <a:moveTo>
                  <a:pt x="177800" y="177800"/>
                </a:moveTo>
                <a:cubicBezTo>
                  <a:pt x="165534" y="177800"/>
                  <a:pt x="155575" y="170331"/>
                  <a:pt x="155575" y="161131"/>
                </a:cubicBezTo>
                <a:cubicBezTo>
                  <a:pt x="155575" y="151932"/>
                  <a:pt x="165534" y="144463"/>
                  <a:pt x="177800" y="144463"/>
                </a:cubicBezTo>
                <a:cubicBezTo>
                  <a:pt x="190066" y="144463"/>
                  <a:pt x="200025" y="151932"/>
                  <a:pt x="200025" y="161131"/>
                </a:cubicBezTo>
                <a:cubicBezTo>
                  <a:pt x="200025" y="170331"/>
                  <a:pt x="190066" y="177800"/>
                  <a:pt x="177800" y="177800"/>
                </a:cubicBezTo>
                <a:close/>
                <a:moveTo>
                  <a:pt x="296333" y="161131"/>
                </a:moveTo>
                <a:cubicBezTo>
                  <a:pt x="296333" y="170331"/>
                  <a:pt x="286375" y="177800"/>
                  <a:pt x="274108" y="177800"/>
                </a:cubicBezTo>
                <a:cubicBezTo>
                  <a:pt x="261842" y="177800"/>
                  <a:pt x="251883" y="170331"/>
                  <a:pt x="251883" y="161131"/>
                </a:cubicBezTo>
                <a:cubicBezTo>
                  <a:pt x="251883" y="151932"/>
                  <a:pt x="261842" y="144463"/>
                  <a:pt x="274108" y="144463"/>
                </a:cubicBezTo>
                <a:cubicBezTo>
                  <a:pt x="286375" y="144463"/>
                  <a:pt x="296333" y="151932"/>
                  <a:pt x="296333" y="161131"/>
                </a:cubicBezTo>
                <a:close/>
                <a:moveTo>
                  <a:pt x="81492" y="244475"/>
                </a:moveTo>
                <a:cubicBezTo>
                  <a:pt x="69225" y="244475"/>
                  <a:pt x="59267" y="237006"/>
                  <a:pt x="59267" y="227806"/>
                </a:cubicBezTo>
                <a:cubicBezTo>
                  <a:pt x="59267" y="218607"/>
                  <a:pt x="69225" y="211138"/>
                  <a:pt x="81492" y="211138"/>
                </a:cubicBezTo>
                <a:cubicBezTo>
                  <a:pt x="93758" y="211138"/>
                  <a:pt x="103717" y="218607"/>
                  <a:pt x="103717" y="227806"/>
                </a:cubicBezTo>
                <a:cubicBezTo>
                  <a:pt x="103717" y="237006"/>
                  <a:pt x="93758" y="244475"/>
                  <a:pt x="81492" y="244475"/>
                </a:cubicBezTo>
                <a:close/>
                <a:moveTo>
                  <a:pt x="200025" y="227806"/>
                </a:moveTo>
                <a:cubicBezTo>
                  <a:pt x="200025" y="237006"/>
                  <a:pt x="190066" y="244475"/>
                  <a:pt x="177800" y="244475"/>
                </a:cubicBezTo>
                <a:cubicBezTo>
                  <a:pt x="165534" y="244475"/>
                  <a:pt x="155575" y="237006"/>
                  <a:pt x="155575" y="227806"/>
                </a:cubicBezTo>
                <a:cubicBezTo>
                  <a:pt x="155575" y="218607"/>
                  <a:pt x="165534" y="211138"/>
                  <a:pt x="177800" y="211138"/>
                </a:cubicBezTo>
                <a:cubicBezTo>
                  <a:pt x="190066" y="211138"/>
                  <a:pt x="200025" y="218607"/>
                  <a:pt x="200025" y="227806"/>
                </a:cubicBezTo>
                <a:close/>
                <a:moveTo>
                  <a:pt x="274108" y="244475"/>
                </a:moveTo>
                <a:cubicBezTo>
                  <a:pt x="261842" y="244475"/>
                  <a:pt x="251883" y="237006"/>
                  <a:pt x="251883" y="227806"/>
                </a:cubicBezTo>
                <a:cubicBezTo>
                  <a:pt x="251883" y="218607"/>
                  <a:pt x="261842" y="211138"/>
                  <a:pt x="274108" y="211138"/>
                </a:cubicBezTo>
                <a:cubicBezTo>
                  <a:pt x="286375" y="211138"/>
                  <a:pt x="296333" y="218607"/>
                  <a:pt x="296333" y="227806"/>
                </a:cubicBezTo>
                <a:cubicBezTo>
                  <a:pt x="296333" y="237006"/>
                  <a:pt x="286375" y="244475"/>
                  <a:pt x="274108" y="244475"/>
                </a:cubicBezTo>
                <a:close/>
                <a:moveTo>
                  <a:pt x="59267" y="294481"/>
                </a:moveTo>
                <a:cubicBezTo>
                  <a:pt x="59267" y="285244"/>
                  <a:pt x="69175" y="277813"/>
                  <a:pt x="81492" y="277813"/>
                </a:cubicBezTo>
                <a:lnTo>
                  <a:pt x="185208" y="277813"/>
                </a:lnTo>
                <a:cubicBezTo>
                  <a:pt x="197525" y="277813"/>
                  <a:pt x="207433" y="285244"/>
                  <a:pt x="207433" y="294481"/>
                </a:cubicBezTo>
                <a:cubicBezTo>
                  <a:pt x="207433" y="303719"/>
                  <a:pt x="197525" y="311150"/>
                  <a:pt x="185208" y="311150"/>
                </a:cubicBezTo>
                <a:lnTo>
                  <a:pt x="81492" y="311150"/>
                </a:lnTo>
                <a:cubicBezTo>
                  <a:pt x="69175" y="311150"/>
                  <a:pt x="59267" y="303719"/>
                  <a:pt x="59267" y="294481"/>
                </a:cubicBezTo>
                <a:close/>
                <a:moveTo>
                  <a:pt x="274108" y="277813"/>
                </a:moveTo>
                <a:cubicBezTo>
                  <a:pt x="286425" y="277813"/>
                  <a:pt x="296333" y="285244"/>
                  <a:pt x="296333" y="294481"/>
                </a:cubicBezTo>
                <a:cubicBezTo>
                  <a:pt x="296333" y="303719"/>
                  <a:pt x="286425" y="311150"/>
                  <a:pt x="274108" y="311150"/>
                </a:cubicBezTo>
                <a:cubicBezTo>
                  <a:pt x="261792" y="311150"/>
                  <a:pt x="251883" y="303719"/>
                  <a:pt x="251883" y="294481"/>
                </a:cubicBezTo>
                <a:cubicBezTo>
                  <a:pt x="251883" y="285244"/>
                  <a:pt x="261792" y="277813"/>
                  <a:pt x="274108" y="277813"/>
                </a:cubicBezTo>
                <a:close/>
              </a:path>
            </a:pathLst>
          </a:custGeom>
          <a:solidFill>
            <a:srgbClr val="C49A3C"/>
          </a:solidFill>
          <a:ln/>
        </p:spPr>
      </p:sp>
      <p:sp>
        <p:nvSpPr>
          <p:cNvPr id="17" name="Text 15"/>
          <p:cNvSpPr/>
          <p:nvPr/>
        </p:nvSpPr>
        <p:spPr>
          <a:xfrm>
            <a:off x="1422400" y="4445000"/>
            <a:ext cx="2540000" cy="304800"/>
          </a:xfrm>
          <a:prstGeom prst="rect">
            <a:avLst/>
          </a:prstGeom>
          <a:noFill/>
          <a:ln/>
        </p:spPr>
        <p:txBody>
          <a:bodyPr wrap="none" lIns="0" tIns="0" rIns="0" bIns="0" rtlCol="0" anchor="ctr"/>
          <a:lstStyle/>
          <a:p>
            <a:pPr algn="l">
              <a:lnSpc>
                <a:spcPct val="120000"/>
              </a:lnSpc>
            </a:pPr>
            <a:r>
              <a:rPr lang="en-US" sz="1800" b="1" dirty="0">
                <a:solidFill>
                  <a:srgbClr val="1C1C1E"/>
                </a:solidFill>
                <a:latin typeface="Quattrocento Sans" pitchFamily="34" charset="0"/>
                <a:ea typeface="Quattrocento Sans" pitchFamily="34" charset="-122"/>
                <a:cs typeface="Quattrocento Sans" pitchFamily="34" charset="-120"/>
              </a:rPr>
              <a:t>DAX</a:t>
            </a:r>
            <a:endParaRPr lang="en-US" sz="1800" dirty="0"/>
          </a:p>
        </p:txBody>
      </p:sp>
      <p:sp>
        <p:nvSpPr>
          <p:cNvPr id="18" name="Text 16"/>
          <p:cNvSpPr/>
          <p:nvPr/>
        </p:nvSpPr>
        <p:spPr>
          <a:xfrm>
            <a:off x="1422400" y="4775200"/>
            <a:ext cx="6096000" cy="279400"/>
          </a:xfrm>
          <a:prstGeom prst="rect">
            <a:avLst/>
          </a:prstGeom>
          <a:noFill/>
          <a:ln/>
        </p:spPr>
        <p:txBody>
          <a:bodyPr wrap="none" lIns="0" tIns="0" rIns="0" bIns="0" rtlCol="0" anchor="ctr"/>
          <a:lstStyle/>
          <a:p>
            <a:pPr algn="l">
              <a:lnSpc>
                <a:spcPct val="120000"/>
              </a:lnSpc>
            </a:pPr>
            <a:r>
              <a:rPr lang="en-US" sz="1400" dirty="0">
                <a:solidFill>
                  <a:srgbClr val="8B8175"/>
                </a:solidFill>
                <a:latin typeface="Quattrocento Sans" pitchFamily="34" charset="0"/>
                <a:ea typeface="Quattrocento Sans" pitchFamily="34" charset="-122"/>
                <a:cs typeface="Quattrocento Sans" pitchFamily="34" charset="-120"/>
              </a:rPr>
              <a:t>Data Analysis Expressions for dynamic KPIs</a:t>
            </a:r>
            <a:endParaRPr lang="en-US" sz="1400" dirty="0"/>
          </a:p>
        </p:txBody>
      </p:sp>
      <p:sp>
        <p:nvSpPr>
          <p:cNvPr id="19" name="Text 17"/>
          <p:cNvSpPr/>
          <p:nvPr/>
        </p:nvSpPr>
        <p:spPr>
          <a:xfrm>
            <a:off x="762000" y="5334000"/>
            <a:ext cx="6858000" cy="355600"/>
          </a:xfrm>
          <a:prstGeom prst="rect">
            <a:avLst/>
          </a:prstGeom>
          <a:noFill/>
          <a:ln/>
        </p:spPr>
        <p:txBody>
          <a:bodyPr wrap="none" lIns="0" tIns="0" rIns="0" bIns="0" rtlCol="0" anchor="ctr"/>
          <a:lstStyle/>
          <a:p>
            <a:pPr algn="l">
              <a:lnSpc>
                <a:spcPct val="120000"/>
              </a:lnSpc>
            </a:pPr>
            <a:r>
              <a:rPr lang="en-US" sz="1800" dirty="0">
                <a:solidFill>
                  <a:srgbClr val="2D4A52"/>
                </a:solidFill>
                <a:latin typeface="Oranienbaum" pitchFamily="34" charset="0"/>
                <a:ea typeface="Oranienbaum" pitchFamily="34" charset="-122"/>
                <a:cs typeface="Oranienbaum" pitchFamily="34" charset="-120"/>
              </a:rPr>
              <a:t>Key DAX Measures</a:t>
            </a:r>
            <a:endParaRPr lang="en-US" sz="1800" dirty="0"/>
          </a:p>
        </p:txBody>
      </p:sp>
      <p:sp>
        <p:nvSpPr>
          <p:cNvPr id="20" name="Shape 18"/>
          <p:cNvSpPr/>
          <p:nvPr/>
        </p:nvSpPr>
        <p:spPr>
          <a:xfrm>
            <a:off x="762000" y="5740400"/>
            <a:ext cx="6858000" cy="12700"/>
          </a:xfrm>
          <a:prstGeom prst="rect">
            <a:avLst/>
          </a:prstGeom>
          <a:solidFill>
            <a:srgbClr val="D5D0C8"/>
          </a:solidFill>
          <a:ln/>
        </p:spPr>
      </p:sp>
      <p:sp>
        <p:nvSpPr>
          <p:cNvPr id="21" name="Text 19"/>
          <p:cNvSpPr/>
          <p:nvPr/>
        </p:nvSpPr>
        <p:spPr>
          <a:xfrm>
            <a:off x="762000" y="5892800"/>
            <a:ext cx="6858000" cy="2413000"/>
          </a:xfrm>
          <a:prstGeom prst="rect">
            <a:avLst/>
          </a:prstGeom>
          <a:noFill/>
          <a:ln/>
        </p:spPr>
        <p:txBody>
          <a:bodyPr wrap="square" lIns="0" tIns="0" rIns="0" bIns="0" rtlCol="0" anchor="t"/>
          <a:lstStyle/>
          <a:p>
            <a:pPr algn="l">
              <a:lnSpc>
                <a:spcPct val="170000"/>
              </a:lnSpc>
            </a:pPr>
            <a:r>
              <a:rPr lang="en-US" sz="1300" dirty="0">
                <a:solidFill>
                  <a:srgbClr val="C49A3C"/>
                </a:solidFill>
                <a:latin typeface="Quattrocento Sans" pitchFamily="34" charset="0"/>
                <a:ea typeface="Quattrocento Sans" pitchFamily="34" charset="-122"/>
                <a:cs typeface="Quattrocento Sans" pitchFamily="34" charset="-120"/>
              </a:rPr>
              <a:t>Count of Survey Takers</a:t>
            </a:r>
            <a:pPr algn="l">
              <a:lnSpc>
                <a:spcPct val="170000"/>
              </a:lnSpc>
            </a:pPr>
            <a:r>
              <a:rPr lang="en-US" sz="1300" dirty="0">
                <a:solidFill>
                  <a:srgbClr val="1C1C1E"/>
                </a:solidFill>
                <a:latin typeface="Quattrocento Sans" pitchFamily="34" charset="0"/>
                <a:ea typeface="Quattrocento Sans" pitchFamily="34" charset="-122"/>
                <a:cs typeface="Quattrocento Sans" pitchFamily="34" charset="-120"/>
              </a:rPr>
              <a:t> = COUNTROWS(Data)</a:t>
            </a:r>
            <a:endParaRPr lang="en-US" sz="1300" dirty="0"/>
          </a:p>
          <a:p>
            <a:pPr algn="l">
              <a:lnSpc>
                <a:spcPct val="170000"/>
              </a:lnSpc>
            </a:pPr>
            <a:r>
              <a:rPr lang="en-US" sz="1300" dirty="0">
                <a:solidFill>
                  <a:srgbClr val="C49A3C"/>
                </a:solidFill>
                <a:latin typeface="Quattrocento Sans" pitchFamily="34" charset="0"/>
                <a:ea typeface="Quattrocento Sans" pitchFamily="34" charset="-122"/>
                <a:cs typeface="Quattrocento Sans" pitchFamily="34" charset="-120"/>
              </a:rPr>
              <a:t>Average Age</a:t>
            </a:r>
            <a:pPr algn="l">
              <a:lnSpc>
                <a:spcPct val="170000"/>
              </a:lnSpc>
            </a:pPr>
            <a:r>
              <a:rPr lang="en-US" sz="1300" dirty="0">
                <a:solidFill>
                  <a:srgbClr val="1C1C1E"/>
                </a:solidFill>
                <a:latin typeface="Quattrocento Sans" pitchFamily="34" charset="0"/>
                <a:ea typeface="Quattrocento Sans" pitchFamily="34" charset="-122"/>
                <a:cs typeface="Quattrocento Sans" pitchFamily="34" charset="-120"/>
              </a:rPr>
              <a:t> = AVERAGE(Data[Current Age])</a:t>
            </a:r>
            <a:endParaRPr lang="en-US" sz="1300" dirty="0"/>
          </a:p>
          <a:p>
            <a:pPr algn="l">
              <a:lnSpc>
                <a:spcPct val="170000"/>
              </a:lnSpc>
            </a:pPr>
            <a:r>
              <a:rPr lang="en-US" sz="1300" dirty="0">
                <a:solidFill>
                  <a:srgbClr val="C49A3C"/>
                </a:solidFill>
                <a:latin typeface="Quattrocento Sans" pitchFamily="34" charset="0"/>
                <a:ea typeface="Quattrocento Sans" pitchFamily="34" charset="-122"/>
                <a:cs typeface="Quattrocento Sans" pitchFamily="34" charset="-120"/>
              </a:rPr>
              <a:t>Average Salary</a:t>
            </a:r>
            <a:pPr algn="l">
              <a:lnSpc>
                <a:spcPct val="170000"/>
              </a:lnSpc>
            </a:pPr>
            <a:r>
              <a:rPr lang="en-US" sz="1300" dirty="0">
                <a:solidFill>
                  <a:srgbClr val="1C1C1E"/>
                </a:solidFill>
                <a:latin typeface="Quattrocento Sans" pitchFamily="34" charset="0"/>
                <a:ea typeface="Quattrocento Sans" pitchFamily="34" charset="-122"/>
                <a:cs typeface="Quattrocento Sans" pitchFamily="34" charset="-120"/>
              </a:rPr>
              <a:t> = AVERAGE(Data[Average Salary])</a:t>
            </a:r>
            <a:endParaRPr lang="en-US" sz="1300" dirty="0"/>
          </a:p>
          <a:p>
            <a:pPr algn="l">
              <a:lnSpc>
                <a:spcPct val="170000"/>
              </a:lnSpc>
            </a:pPr>
            <a:r>
              <a:rPr lang="en-US" sz="1300" dirty="0">
                <a:solidFill>
                  <a:srgbClr val="C49A3C"/>
                </a:solidFill>
                <a:latin typeface="Quattrocento Sans" pitchFamily="34" charset="0"/>
                <a:ea typeface="Quattrocento Sans" pitchFamily="34" charset="-122"/>
                <a:cs typeface="Quattrocento Sans" pitchFamily="34" charset="-120"/>
              </a:rPr>
              <a:t>Avg Work/Life Balance</a:t>
            </a:r>
            <a:pPr algn="l">
              <a:lnSpc>
                <a:spcPct val="170000"/>
              </a:lnSpc>
            </a:pPr>
            <a:r>
              <a:rPr lang="en-US" sz="1300" dirty="0">
                <a:solidFill>
                  <a:srgbClr val="1C1C1E"/>
                </a:solidFill>
                <a:latin typeface="Quattrocento Sans" pitchFamily="34" charset="0"/>
                <a:ea typeface="Quattrocento Sans" pitchFamily="34" charset="-122"/>
                <a:cs typeface="Quattrocento Sans" pitchFamily="34" charset="-120"/>
              </a:rPr>
              <a:t> = AVERAGE(Data[Work/Life Balance])</a:t>
            </a:r>
            <a:endParaRPr lang="en-US" sz="1300" dirty="0"/>
          </a:p>
          <a:p>
            <a:pPr algn="l">
              <a:lnSpc>
                <a:spcPct val="170000"/>
              </a:lnSpc>
            </a:pPr>
            <a:r>
              <a:rPr lang="en-US" sz="1300" dirty="0">
                <a:solidFill>
                  <a:srgbClr val="C49A3C"/>
                </a:solidFill>
                <a:latin typeface="Quattrocento Sans" pitchFamily="34" charset="0"/>
                <a:ea typeface="Quattrocento Sans" pitchFamily="34" charset="-122"/>
                <a:cs typeface="Quattrocento Sans" pitchFamily="34" charset="-120"/>
              </a:rPr>
              <a:t>Avg Salary Happiness</a:t>
            </a:r>
            <a:pPr algn="l">
              <a:lnSpc>
                <a:spcPct val="170000"/>
              </a:lnSpc>
            </a:pPr>
            <a:r>
              <a:rPr lang="en-US" sz="1300" dirty="0">
                <a:solidFill>
                  <a:srgbClr val="1C1C1E"/>
                </a:solidFill>
                <a:latin typeface="Quattrocento Sans" pitchFamily="34" charset="0"/>
                <a:ea typeface="Quattrocento Sans" pitchFamily="34" charset="-122"/>
                <a:cs typeface="Quattrocento Sans" pitchFamily="34" charset="-120"/>
              </a:rPr>
              <a:t> = AVERAGE(Data[Salary Satisfaction])</a:t>
            </a:r>
            <a:endParaRPr lang="en-US" sz="1300" dirty="0"/>
          </a:p>
        </p:txBody>
      </p:sp>
      <p:sp>
        <p:nvSpPr>
          <p:cNvPr id="22" name="Text 20"/>
          <p:cNvSpPr/>
          <p:nvPr/>
        </p:nvSpPr>
        <p:spPr>
          <a:xfrm>
            <a:off x="8382000" y="1333500"/>
            <a:ext cx="7112000" cy="355600"/>
          </a:xfrm>
          <a:prstGeom prst="rect">
            <a:avLst/>
          </a:prstGeom>
          <a:noFill/>
          <a:ln/>
        </p:spPr>
        <p:txBody>
          <a:bodyPr wrap="none" lIns="0" tIns="0" rIns="0" bIns="0" rtlCol="0" anchor="ctr"/>
          <a:lstStyle/>
          <a:p>
            <a:pPr algn="l">
              <a:lnSpc>
                <a:spcPct val="120000"/>
              </a:lnSpc>
            </a:pPr>
            <a:r>
              <a:rPr lang="en-US" sz="2000" dirty="0">
                <a:solidFill>
                  <a:srgbClr val="2D4A52"/>
                </a:solidFill>
                <a:latin typeface="Oranienbaum" pitchFamily="34" charset="0"/>
                <a:ea typeface="Oranienbaum" pitchFamily="34" charset="-122"/>
                <a:cs typeface="Oranienbaum" pitchFamily="34" charset="-120"/>
              </a:rPr>
              <a:t>Dataset Features</a:t>
            </a:r>
            <a:endParaRPr lang="en-US" sz="2000" dirty="0"/>
          </a:p>
        </p:txBody>
      </p:sp>
      <p:sp>
        <p:nvSpPr>
          <p:cNvPr id="23" name="Shape 21"/>
          <p:cNvSpPr/>
          <p:nvPr/>
        </p:nvSpPr>
        <p:spPr>
          <a:xfrm>
            <a:off x="8382000" y="1752600"/>
            <a:ext cx="7112000" cy="12700"/>
          </a:xfrm>
          <a:prstGeom prst="rect">
            <a:avLst/>
          </a:prstGeom>
          <a:solidFill>
            <a:srgbClr val="D5D0C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382000" y="1930400"/>
          <a:ext cx="7112000" cy="4318000"/>
        </p:xfrm>
        <a:graphic>
          <a:graphicData uri="http://schemas.openxmlformats.org/drawingml/2006/table">
            <a:tbl>
              <a:tblPr/>
              <a:tblGrid>
                <a:gridCol w="3200400"/>
                <a:gridCol w="3911600"/>
              </a:tblGrid>
              <a:tr h="53975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Feature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4A52"/>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Description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2D4A52"/>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Country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Respondent location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Gender / Age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8E5DF"/>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Demographics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8E5DF"/>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Job Title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Current data role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Annual Salary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8E5DF"/>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Compensation range (USD)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8E5DF"/>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Programming Language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Favorite tool/language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Satisfaction Ratings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8E5DF"/>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Work-life &amp; salary happiness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8E5DF"/>
                    </a:solidFill>
                  </a:tcPr>
                </a:tc>
              </a:tr>
              <a:tr h="539750">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Difficulty Score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c>
                  <a:txBody>
                    <a:bodyPr/>
                    <a:lstStyle/>
                    <a:p>
                      <a:pPr algn="ctr"/>
                      <a:r>
                        <a:rPr lang="en-US" sz="1400" dirty="0">
                          <a:solidFill>
                            <a:srgbClr val="1C1C1E"/>
                          </a:solidFill>
                          <a:latin typeface="Quattrocento Sans" pitchFamily="34" charset="0"/>
                          <a:ea typeface="Quattrocento Sans" pitchFamily="34" charset="-122"/>
                          <a:cs typeface="Quattrocento Sans" pitchFamily="34" charset="-120"/>
                        </a:rPr>
                        <a:t>Ease of entering data field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3F1ED"/>
                    </a:solidFill>
                  </a:tcPr>
                </a:tc>
              </a:tr>
            </a:tbl>
          </a:graphicData>
        </a:graphic>
      </p:graphicFrame>
      <p:sp>
        <p:nvSpPr>
          <p:cNvPr id="25" name="Text 22"/>
          <p:cNvSpPr/>
          <p:nvPr/>
        </p:nvSpPr>
        <p:spPr>
          <a:xfrm>
            <a:off x="8382000" y="6477000"/>
            <a:ext cx="7112000" cy="635000"/>
          </a:xfrm>
          <a:prstGeom prst="rect">
            <a:avLst/>
          </a:prstGeom>
          <a:noFill/>
          <a:ln/>
        </p:spPr>
        <p:txBody>
          <a:bodyPr wrap="square" lIns="0" tIns="0" rIns="0" bIns="0" rtlCol="0" anchor="t"/>
          <a:lstStyle/>
          <a:p>
            <a:pPr algn="l">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Source: Anonymous survey of data professionals conducted June 2022. Dataset contains 630+ complete responses across 10+ dimensions.</a:t>
            </a:r>
            <a:endParaRPr lang="en-US" sz="1200" dirty="0"/>
          </a:p>
        </p:txBody>
      </p:sp>
      <p:sp>
        <p:nvSpPr>
          <p:cNvPr id="26" name="Text 23"/>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04 / 08</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508000"/>
            <a:ext cx="13970000" cy="482600"/>
          </a:xfrm>
          <a:prstGeom prst="rect">
            <a:avLst/>
          </a:prstGeom>
          <a:noFill/>
          <a:ln/>
        </p:spPr>
        <p:txBody>
          <a:bodyPr wrap="none" lIns="0" tIns="0" rIns="0" bIns="0" rtlCol="0" anchor="ctr"/>
          <a:lstStyle/>
          <a:p>
            <a:pPr algn="l">
              <a:lnSpc>
                <a:spcPct val="130000"/>
              </a:lnSpc>
            </a:pPr>
            <a:r>
              <a:rPr lang="en-US" sz="2600" dirty="0">
                <a:solidFill>
                  <a:srgbClr val="2D4A52"/>
                </a:solidFill>
                <a:latin typeface="Oranienbaum" pitchFamily="34" charset="0"/>
                <a:ea typeface="Oranienbaum" pitchFamily="34" charset="-122"/>
                <a:cs typeface="Oranienbaum" pitchFamily="34" charset="-120"/>
              </a:rPr>
              <a:t>Dashboard Features: Interactive Visualizations &amp; Dynamic KPIs</a:t>
            </a:r>
            <a:endParaRPr lang="en-US" sz="2600" dirty="0"/>
          </a:p>
        </p:txBody>
      </p:sp>
      <p:sp>
        <p:nvSpPr>
          <p:cNvPr id="4" name="Shape 2"/>
          <p:cNvSpPr/>
          <p:nvPr/>
        </p:nvSpPr>
        <p:spPr>
          <a:xfrm>
            <a:off x="762000" y="1066800"/>
            <a:ext cx="14732000" cy="12700"/>
          </a:xfrm>
          <a:prstGeom prst="rect">
            <a:avLst/>
          </a:prstGeom>
          <a:solidFill>
            <a:srgbClr val="D5D0C8"/>
          </a:solidFill>
          <a:ln/>
        </p:spPr>
      </p:sp>
      <p:pic>
        <p:nvPicPr>
          <p:cNvPr id="5" name="Image 0" descr="https://kimi-img.moonshot.cn/pub/slides/okc/46ktsda4y765o/mnt/agents/upload/Screenshot%202026-07-11%20122226.png">    </p:cNvPr>
          <p:cNvPicPr>
            <a:picLocks noChangeAspect="1"/>
          </p:cNvPicPr>
          <p:nvPr/>
        </p:nvPicPr>
        <p:blipFill>
          <a:blip r:embed="rId1"/>
          <a:srcRect l="0" r="0" t="0" b="0"/>
          <a:stretch/>
        </p:blipFill>
        <p:spPr>
          <a:xfrm>
            <a:off x="762000" y="1270000"/>
            <a:ext cx="8636000" cy="4826000"/>
          </a:xfrm>
          <a:prstGeom prst="rect">
            <a:avLst/>
          </a:prstGeom>
        </p:spPr>
      </p:pic>
      <p:sp>
        <p:nvSpPr>
          <p:cNvPr id="6" name="Text 3"/>
          <p:cNvSpPr/>
          <p:nvPr/>
        </p:nvSpPr>
        <p:spPr>
          <a:xfrm>
            <a:off x="9906000" y="1270000"/>
            <a:ext cx="5588000" cy="355600"/>
          </a:xfrm>
          <a:prstGeom prst="rect">
            <a:avLst/>
          </a:prstGeom>
          <a:noFill/>
          <a:ln/>
        </p:spPr>
        <p:txBody>
          <a:bodyPr wrap="none" lIns="0" tIns="0" rIns="0" bIns="0" rtlCol="0" anchor="ctr"/>
          <a:lstStyle/>
          <a:p>
            <a:pPr algn="l">
              <a:lnSpc>
                <a:spcPct val="120000"/>
              </a:lnSpc>
            </a:pPr>
            <a:r>
              <a:rPr lang="en-US" sz="2000" dirty="0">
                <a:solidFill>
                  <a:srgbClr val="2D4A52"/>
                </a:solidFill>
                <a:latin typeface="Oranienbaum" pitchFamily="34" charset="0"/>
                <a:ea typeface="Oranienbaum" pitchFamily="34" charset="-122"/>
                <a:cs typeface="Oranienbaum" pitchFamily="34" charset="-120"/>
              </a:rPr>
              <a:t>Dashboard Components</a:t>
            </a:r>
            <a:endParaRPr lang="en-US" sz="2000" dirty="0"/>
          </a:p>
        </p:txBody>
      </p:sp>
      <p:sp>
        <p:nvSpPr>
          <p:cNvPr id="7" name="Shape 4"/>
          <p:cNvSpPr/>
          <p:nvPr/>
        </p:nvSpPr>
        <p:spPr>
          <a:xfrm>
            <a:off x="9906000" y="1689100"/>
            <a:ext cx="5588000" cy="12700"/>
          </a:xfrm>
          <a:prstGeom prst="rect">
            <a:avLst/>
          </a:prstGeom>
          <a:solidFill>
            <a:srgbClr val="D5D0C8"/>
          </a:solidFill>
          <a:ln/>
        </p:spPr>
      </p:sp>
      <p:sp>
        <p:nvSpPr>
          <p:cNvPr id="8" name="Text 5"/>
          <p:cNvSpPr/>
          <p:nvPr/>
        </p:nvSpPr>
        <p:spPr>
          <a:xfrm>
            <a:off x="9906000" y="1854200"/>
            <a:ext cx="5588000" cy="279400"/>
          </a:xfrm>
          <a:prstGeom prst="rect">
            <a:avLst/>
          </a:prstGeom>
          <a:noFill/>
          <a:ln/>
        </p:spPr>
        <p:txBody>
          <a:bodyPr wrap="none" lIns="0" tIns="0" rIns="0" bIns="0" rtlCol="0" anchor="ctr"/>
          <a:lstStyle/>
          <a:p>
            <a:pPr algn="l">
              <a:lnSpc>
                <a:spcPct val="120000"/>
              </a:lnSpc>
            </a:pPr>
            <a:r>
              <a:rPr lang="en-US" sz="1200" spc="200" kern="0" dirty="0">
                <a:solidFill>
                  <a:srgbClr val="8B8175"/>
                </a:solidFill>
                <a:latin typeface="Quattrocento Sans" pitchFamily="34" charset="0"/>
                <a:ea typeface="Quattrocento Sans" pitchFamily="34" charset="-122"/>
                <a:cs typeface="Quattrocento Sans" pitchFamily="34" charset="-120"/>
              </a:rPr>
              <a:t>KPI CARDS</a:t>
            </a:r>
            <a:endParaRPr lang="en-US" sz="1200" dirty="0"/>
          </a:p>
        </p:txBody>
      </p:sp>
      <p:sp>
        <p:nvSpPr>
          <p:cNvPr id="9" name="Text 6"/>
          <p:cNvSpPr/>
          <p:nvPr/>
        </p:nvSpPr>
        <p:spPr>
          <a:xfrm>
            <a:off x="9906000" y="2184400"/>
            <a:ext cx="5588000" cy="1524000"/>
          </a:xfrm>
          <a:prstGeom prst="rect">
            <a:avLst/>
          </a:prstGeom>
          <a:noFill/>
          <a:ln/>
        </p:spPr>
        <p:txBody>
          <a:bodyPr wrap="square" lIns="0" tIns="0" rIns="0" bIns="0" rtlCol="0" anchor="t"/>
          <a:lstStyle/>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Count of Survey Takers</a:t>
            </a:r>
            <a:endParaRPr lang="en-US" sz="1500" dirty="0"/>
          </a:p>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Average Age of Respondents</a:t>
            </a:r>
            <a:endParaRPr lang="en-US" sz="1500" dirty="0"/>
          </a:p>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Happiness with Work/Life Balance</a:t>
            </a:r>
            <a:endParaRPr lang="en-US" sz="1500" dirty="0"/>
          </a:p>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Happiness with Salary</a:t>
            </a:r>
            <a:endParaRPr lang="en-US" sz="1500" dirty="0"/>
          </a:p>
        </p:txBody>
      </p:sp>
      <p:sp>
        <p:nvSpPr>
          <p:cNvPr id="10" name="Text 7"/>
          <p:cNvSpPr/>
          <p:nvPr/>
        </p:nvSpPr>
        <p:spPr>
          <a:xfrm>
            <a:off x="9906000" y="3810000"/>
            <a:ext cx="5588000" cy="279400"/>
          </a:xfrm>
          <a:prstGeom prst="rect">
            <a:avLst/>
          </a:prstGeom>
          <a:noFill/>
          <a:ln/>
        </p:spPr>
        <p:txBody>
          <a:bodyPr wrap="none" lIns="0" tIns="0" rIns="0" bIns="0" rtlCol="0" anchor="ctr"/>
          <a:lstStyle/>
          <a:p>
            <a:pPr algn="l">
              <a:lnSpc>
                <a:spcPct val="120000"/>
              </a:lnSpc>
            </a:pPr>
            <a:r>
              <a:rPr lang="en-US" sz="1200" spc="200" kern="0" dirty="0">
                <a:solidFill>
                  <a:srgbClr val="8B8175"/>
                </a:solidFill>
                <a:latin typeface="Quattrocento Sans" pitchFamily="34" charset="0"/>
                <a:ea typeface="Quattrocento Sans" pitchFamily="34" charset="-122"/>
                <a:cs typeface="Quattrocento Sans" pitchFamily="34" charset="-120"/>
              </a:rPr>
              <a:t>INTERACTIVE FILTERS</a:t>
            </a:r>
            <a:endParaRPr lang="en-US" sz="1200" dirty="0"/>
          </a:p>
        </p:txBody>
      </p:sp>
      <p:sp>
        <p:nvSpPr>
          <p:cNvPr id="11" name="Text 8"/>
          <p:cNvSpPr/>
          <p:nvPr/>
        </p:nvSpPr>
        <p:spPr>
          <a:xfrm>
            <a:off x="9906000" y="4140200"/>
            <a:ext cx="5588000" cy="787400"/>
          </a:xfrm>
          <a:prstGeom prst="rect">
            <a:avLst/>
          </a:prstGeom>
          <a:noFill/>
          <a:ln/>
        </p:spPr>
        <p:txBody>
          <a:bodyPr wrap="square" lIns="0" tIns="0" rIns="0" bIns="0" rtlCol="0" anchor="t"/>
          <a:lstStyle/>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Country selector (multi-select)</a:t>
            </a:r>
            <a:endParaRPr lang="en-US" sz="1500" dirty="0"/>
          </a:p>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Gender filter (Male/Female)</a:t>
            </a:r>
            <a:endParaRPr lang="en-US" sz="1500" dirty="0"/>
          </a:p>
        </p:txBody>
      </p:sp>
      <p:sp>
        <p:nvSpPr>
          <p:cNvPr id="12" name="Text 9"/>
          <p:cNvSpPr/>
          <p:nvPr/>
        </p:nvSpPr>
        <p:spPr>
          <a:xfrm>
            <a:off x="9906000" y="5029200"/>
            <a:ext cx="5588000" cy="279400"/>
          </a:xfrm>
          <a:prstGeom prst="rect">
            <a:avLst/>
          </a:prstGeom>
          <a:noFill/>
          <a:ln/>
        </p:spPr>
        <p:txBody>
          <a:bodyPr wrap="none" lIns="0" tIns="0" rIns="0" bIns="0" rtlCol="0" anchor="ctr"/>
          <a:lstStyle/>
          <a:p>
            <a:pPr algn="l">
              <a:lnSpc>
                <a:spcPct val="120000"/>
              </a:lnSpc>
            </a:pPr>
            <a:r>
              <a:rPr lang="en-US" sz="1200" spc="200" kern="0" dirty="0">
                <a:solidFill>
                  <a:srgbClr val="8B8175"/>
                </a:solidFill>
                <a:latin typeface="Quattrocento Sans" pitchFamily="34" charset="0"/>
                <a:ea typeface="Quattrocento Sans" pitchFamily="34" charset="-122"/>
                <a:cs typeface="Quattrocento Sans" pitchFamily="34" charset="-120"/>
              </a:rPr>
              <a:t>VISUALIZATIONS</a:t>
            </a:r>
            <a:endParaRPr lang="en-US" sz="1200" dirty="0"/>
          </a:p>
        </p:txBody>
      </p:sp>
      <p:sp>
        <p:nvSpPr>
          <p:cNvPr id="13" name="Text 10"/>
          <p:cNvSpPr/>
          <p:nvPr/>
        </p:nvSpPr>
        <p:spPr>
          <a:xfrm>
            <a:off x="9906000" y="5308600"/>
            <a:ext cx="5588000" cy="1117600"/>
          </a:xfrm>
          <a:prstGeom prst="rect">
            <a:avLst/>
          </a:prstGeom>
          <a:noFill/>
          <a:ln/>
        </p:spPr>
        <p:txBody>
          <a:bodyPr wrap="square" lIns="0" tIns="0" rIns="0" bIns="0" rtlCol="0" anchor="t"/>
          <a:lstStyle/>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Treemap: Country distribution</a:t>
            </a:r>
            <a:endParaRPr lang="en-US" sz="1500" dirty="0"/>
          </a:p>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Bar chart: Salary by job title</a:t>
            </a:r>
            <a:endParaRPr lang="en-US" sz="1500" dirty="0"/>
          </a:p>
          <a:p>
            <a:pPr algn="l">
              <a:lnSpc>
                <a:spcPct val="160000"/>
              </a:lnSpc>
            </a:pPr>
            <a:r>
              <a:rPr lang="en-US" sz="1500" dirty="0">
                <a:solidFill>
                  <a:srgbClr val="C49A3C"/>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Donut chart: Break-in difficulty</a:t>
            </a:r>
            <a:endParaRPr lang="en-US" sz="1500" dirty="0"/>
          </a:p>
        </p:txBody>
      </p:sp>
      <p:sp>
        <p:nvSpPr>
          <p:cNvPr id="14" name="Shape 11"/>
          <p:cNvSpPr/>
          <p:nvPr/>
        </p:nvSpPr>
        <p:spPr>
          <a:xfrm>
            <a:off x="762000" y="6477000"/>
            <a:ext cx="14732000" cy="1270000"/>
          </a:xfrm>
          <a:prstGeom prst="rect">
            <a:avLst/>
          </a:prstGeom>
          <a:solidFill>
            <a:srgbClr val="2D4A52"/>
          </a:solidFill>
          <a:ln/>
        </p:spPr>
      </p:sp>
      <p:sp>
        <p:nvSpPr>
          <p:cNvPr id="15" name="Text 12"/>
          <p:cNvSpPr/>
          <p:nvPr/>
        </p:nvSpPr>
        <p:spPr>
          <a:xfrm>
            <a:off x="1016000" y="6578600"/>
            <a:ext cx="3175000" cy="635000"/>
          </a:xfrm>
          <a:prstGeom prst="rect">
            <a:avLst/>
          </a:prstGeom>
          <a:noFill/>
          <a:ln/>
        </p:spPr>
        <p:txBody>
          <a:bodyPr wrap="none" lIns="0" tIns="0" rIns="0" bIns="0" rtlCol="0" anchor="ctr"/>
          <a:lstStyle/>
          <a:p>
            <a:pPr algn="ctr">
              <a:lnSpc>
                <a:spcPct val="120000"/>
              </a:lnSpc>
            </a:pPr>
            <a:r>
              <a:rPr lang="en-US" sz="3800" dirty="0">
                <a:solidFill>
                  <a:srgbClr val="C49A3C"/>
                </a:solidFill>
                <a:latin typeface="Oranienbaum" pitchFamily="34" charset="0"/>
                <a:ea typeface="Oranienbaum" pitchFamily="34" charset="-122"/>
                <a:cs typeface="Oranienbaum" pitchFamily="34" charset="-120"/>
              </a:rPr>
              <a:t>630</a:t>
            </a:r>
            <a:endParaRPr lang="en-US" sz="3800" dirty="0"/>
          </a:p>
        </p:txBody>
      </p:sp>
      <p:sp>
        <p:nvSpPr>
          <p:cNvPr id="16" name="Text 13"/>
          <p:cNvSpPr/>
          <p:nvPr/>
        </p:nvSpPr>
        <p:spPr>
          <a:xfrm>
            <a:off x="1016000" y="7239000"/>
            <a:ext cx="3175000" cy="330200"/>
          </a:xfrm>
          <a:prstGeom prst="rect">
            <a:avLst/>
          </a:prstGeom>
          <a:noFill/>
          <a:ln/>
        </p:spPr>
        <p:txBody>
          <a:bodyPr wrap="none" lIns="0" tIns="0" rIns="0" bIns="0" rtlCol="0" anchor="ctr"/>
          <a:lstStyle/>
          <a:p>
            <a:pPr algn="ctr">
              <a:lnSpc>
                <a:spcPct val="120000"/>
              </a:lnSpc>
            </a:pPr>
            <a:r>
              <a:rPr lang="en-US" sz="1200" spc="100" kern="0" dirty="0">
                <a:solidFill>
                  <a:srgbClr val="FFFFFF"/>
                </a:solidFill>
                <a:latin typeface="Quattrocento Sans" pitchFamily="34" charset="0"/>
                <a:ea typeface="Quattrocento Sans" pitchFamily="34" charset="-122"/>
                <a:cs typeface="Quattrocento Sans" pitchFamily="34" charset="-120"/>
              </a:rPr>
              <a:t>TOTAL RESPONDENTS</a:t>
            </a:r>
            <a:endParaRPr lang="en-US" sz="1200" dirty="0"/>
          </a:p>
        </p:txBody>
      </p:sp>
      <p:sp>
        <p:nvSpPr>
          <p:cNvPr id="17" name="Text 14"/>
          <p:cNvSpPr/>
          <p:nvPr/>
        </p:nvSpPr>
        <p:spPr>
          <a:xfrm>
            <a:off x="4699000" y="6578600"/>
            <a:ext cx="3175000" cy="635000"/>
          </a:xfrm>
          <a:prstGeom prst="rect">
            <a:avLst/>
          </a:prstGeom>
          <a:noFill/>
          <a:ln/>
        </p:spPr>
        <p:txBody>
          <a:bodyPr wrap="none" lIns="0" tIns="0" rIns="0" bIns="0" rtlCol="0" anchor="ctr"/>
          <a:lstStyle/>
          <a:p>
            <a:pPr algn="ctr">
              <a:lnSpc>
                <a:spcPct val="120000"/>
              </a:lnSpc>
            </a:pPr>
            <a:r>
              <a:rPr lang="en-US" sz="3800" dirty="0">
                <a:solidFill>
                  <a:srgbClr val="C49A3C"/>
                </a:solidFill>
                <a:latin typeface="Oranienbaum" pitchFamily="34" charset="0"/>
                <a:ea typeface="Oranienbaum" pitchFamily="34" charset="-122"/>
                <a:cs typeface="Oranienbaum" pitchFamily="34" charset="-120"/>
              </a:rPr>
              <a:t>29.87</a:t>
            </a:r>
            <a:endParaRPr lang="en-US" sz="3800" dirty="0"/>
          </a:p>
        </p:txBody>
      </p:sp>
      <p:sp>
        <p:nvSpPr>
          <p:cNvPr id="18" name="Text 15"/>
          <p:cNvSpPr/>
          <p:nvPr/>
        </p:nvSpPr>
        <p:spPr>
          <a:xfrm>
            <a:off x="4699000" y="7239000"/>
            <a:ext cx="3175000" cy="330200"/>
          </a:xfrm>
          <a:prstGeom prst="rect">
            <a:avLst/>
          </a:prstGeom>
          <a:noFill/>
          <a:ln/>
        </p:spPr>
        <p:txBody>
          <a:bodyPr wrap="none" lIns="0" tIns="0" rIns="0" bIns="0" rtlCol="0" anchor="ctr"/>
          <a:lstStyle/>
          <a:p>
            <a:pPr algn="ctr">
              <a:lnSpc>
                <a:spcPct val="120000"/>
              </a:lnSpc>
            </a:pPr>
            <a:r>
              <a:rPr lang="en-US" sz="1200" spc="100" kern="0" dirty="0">
                <a:solidFill>
                  <a:srgbClr val="FFFFFF"/>
                </a:solidFill>
                <a:latin typeface="Quattrocento Sans" pitchFamily="34" charset="0"/>
                <a:ea typeface="Quattrocento Sans" pitchFamily="34" charset="-122"/>
                <a:cs typeface="Quattrocento Sans" pitchFamily="34" charset="-120"/>
              </a:rPr>
              <a:t>AVERAGE AGE</a:t>
            </a:r>
            <a:endParaRPr lang="en-US" sz="1200" dirty="0"/>
          </a:p>
        </p:txBody>
      </p:sp>
      <p:sp>
        <p:nvSpPr>
          <p:cNvPr id="19" name="Text 16"/>
          <p:cNvSpPr/>
          <p:nvPr/>
        </p:nvSpPr>
        <p:spPr>
          <a:xfrm>
            <a:off x="8382000" y="6578600"/>
            <a:ext cx="3175000" cy="635000"/>
          </a:xfrm>
          <a:prstGeom prst="rect">
            <a:avLst/>
          </a:prstGeom>
          <a:noFill/>
          <a:ln/>
        </p:spPr>
        <p:txBody>
          <a:bodyPr wrap="none" lIns="0" tIns="0" rIns="0" bIns="0" rtlCol="0" anchor="ctr"/>
          <a:lstStyle/>
          <a:p>
            <a:pPr algn="ctr">
              <a:lnSpc>
                <a:spcPct val="120000"/>
              </a:lnSpc>
            </a:pPr>
            <a:r>
              <a:rPr lang="en-US" sz="3800" dirty="0">
                <a:solidFill>
                  <a:srgbClr val="C49A3C"/>
                </a:solidFill>
                <a:latin typeface="Oranienbaum" pitchFamily="34" charset="0"/>
                <a:ea typeface="Oranienbaum" pitchFamily="34" charset="-122"/>
                <a:cs typeface="Oranienbaum" pitchFamily="34" charset="-120"/>
              </a:rPr>
              <a:t>5.74</a:t>
            </a:r>
            <a:endParaRPr lang="en-US" sz="3800" dirty="0"/>
          </a:p>
        </p:txBody>
      </p:sp>
      <p:sp>
        <p:nvSpPr>
          <p:cNvPr id="20" name="Text 17"/>
          <p:cNvSpPr/>
          <p:nvPr/>
        </p:nvSpPr>
        <p:spPr>
          <a:xfrm>
            <a:off x="8382000" y="7239000"/>
            <a:ext cx="3175000" cy="330200"/>
          </a:xfrm>
          <a:prstGeom prst="rect">
            <a:avLst/>
          </a:prstGeom>
          <a:noFill/>
          <a:ln/>
        </p:spPr>
        <p:txBody>
          <a:bodyPr wrap="none" lIns="0" tIns="0" rIns="0" bIns="0" rtlCol="0" anchor="ctr"/>
          <a:lstStyle/>
          <a:p>
            <a:pPr algn="ctr">
              <a:lnSpc>
                <a:spcPct val="120000"/>
              </a:lnSpc>
            </a:pPr>
            <a:r>
              <a:rPr lang="en-US" sz="1200" spc="100" kern="0" dirty="0">
                <a:solidFill>
                  <a:srgbClr val="FFFFFF"/>
                </a:solidFill>
                <a:latin typeface="Quattrocento Sans" pitchFamily="34" charset="0"/>
                <a:ea typeface="Quattrocento Sans" pitchFamily="34" charset="-122"/>
                <a:cs typeface="Quattrocento Sans" pitchFamily="34" charset="-120"/>
              </a:rPr>
              <a:t>WORK/LIFE BALANCE /10</a:t>
            </a:r>
            <a:endParaRPr lang="en-US" sz="1200" dirty="0"/>
          </a:p>
        </p:txBody>
      </p:sp>
      <p:sp>
        <p:nvSpPr>
          <p:cNvPr id="21" name="Text 18"/>
          <p:cNvSpPr/>
          <p:nvPr/>
        </p:nvSpPr>
        <p:spPr>
          <a:xfrm>
            <a:off x="12065000" y="6578600"/>
            <a:ext cx="3175000" cy="635000"/>
          </a:xfrm>
          <a:prstGeom prst="rect">
            <a:avLst/>
          </a:prstGeom>
          <a:noFill/>
          <a:ln/>
        </p:spPr>
        <p:txBody>
          <a:bodyPr wrap="none" lIns="0" tIns="0" rIns="0" bIns="0" rtlCol="0" anchor="ctr"/>
          <a:lstStyle/>
          <a:p>
            <a:pPr algn="ctr">
              <a:lnSpc>
                <a:spcPct val="120000"/>
              </a:lnSpc>
            </a:pPr>
            <a:r>
              <a:rPr lang="en-US" sz="3800" dirty="0">
                <a:solidFill>
                  <a:srgbClr val="C49A3C"/>
                </a:solidFill>
                <a:latin typeface="Oranienbaum" pitchFamily="34" charset="0"/>
                <a:ea typeface="Oranienbaum" pitchFamily="34" charset="-122"/>
                <a:cs typeface="Oranienbaum" pitchFamily="34" charset="-120"/>
              </a:rPr>
              <a:t>4.27</a:t>
            </a:r>
            <a:endParaRPr lang="en-US" sz="3800" dirty="0"/>
          </a:p>
        </p:txBody>
      </p:sp>
      <p:sp>
        <p:nvSpPr>
          <p:cNvPr id="22" name="Text 19"/>
          <p:cNvSpPr/>
          <p:nvPr/>
        </p:nvSpPr>
        <p:spPr>
          <a:xfrm>
            <a:off x="12065000" y="7239000"/>
            <a:ext cx="3175000" cy="330200"/>
          </a:xfrm>
          <a:prstGeom prst="rect">
            <a:avLst/>
          </a:prstGeom>
          <a:noFill/>
          <a:ln/>
        </p:spPr>
        <p:txBody>
          <a:bodyPr wrap="none" lIns="0" tIns="0" rIns="0" bIns="0" rtlCol="0" anchor="ctr"/>
          <a:lstStyle/>
          <a:p>
            <a:pPr algn="ctr">
              <a:lnSpc>
                <a:spcPct val="120000"/>
              </a:lnSpc>
            </a:pPr>
            <a:r>
              <a:rPr lang="en-US" sz="1200" spc="100" kern="0" dirty="0">
                <a:solidFill>
                  <a:srgbClr val="FFFFFF"/>
                </a:solidFill>
                <a:latin typeface="Quattrocento Sans" pitchFamily="34" charset="0"/>
                <a:ea typeface="Quattrocento Sans" pitchFamily="34" charset="-122"/>
                <a:cs typeface="Quattrocento Sans" pitchFamily="34" charset="-120"/>
              </a:rPr>
              <a:t>SALARY HAPPINESS /10</a:t>
            </a:r>
            <a:endParaRPr lang="en-US" sz="1200" dirty="0"/>
          </a:p>
        </p:txBody>
      </p:sp>
      <p:sp>
        <p:nvSpPr>
          <p:cNvPr id="23" name="Text 20"/>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05 / 08</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508000"/>
            <a:ext cx="13970000" cy="482600"/>
          </a:xfrm>
          <a:prstGeom prst="rect">
            <a:avLst/>
          </a:prstGeom>
          <a:noFill/>
          <a:ln/>
        </p:spPr>
        <p:txBody>
          <a:bodyPr wrap="none" lIns="0" tIns="0" rIns="0" bIns="0" rtlCol="0" anchor="ctr"/>
          <a:lstStyle/>
          <a:p>
            <a:pPr algn="l">
              <a:lnSpc>
                <a:spcPct val="130000"/>
              </a:lnSpc>
            </a:pPr>
            <a:r>
              <a:rPr lang="en-US" sz="2600" dirty="0">
                <a:solidFill>
                  <a:srgbClr val="2D4A52"/>
                </a:solidFill>
                <a:latin typeface="Oranienbaum" pitchFamily="34" charset="0"/>
                <a:ea typeface="Oranienbaum" pitchFamily="34" charset="-122"/>
                <a:cs typeface="Oranienbaum" pitchFamily="34" charset="-120"/>
              </a:rPr>
              <a:t>Key Insights: Data Scientists Lead Salaries; Python Dominates Skills</a:t>
            </a:r>
            <a:endParaRPr lang="en-US" sz="2600" dirty="0"/>
          </a:p>
        </p:txBody>
      </p:sp>
      <p:sp>
        <p:nvSpPr>
          <p:cNvPr id="4" name="Shape 2"/>
          <p:cNvSpPr/>
          <p:nvPr/>
        </p:nvSpPr>
        <p:spPr>
          <a:xfrm>
            <a:off x="762000" y="1066800"/>
            <a:ext cx="14732000" cy="12700"/>
          </a:xfrm>
          <a:prstGeom prst="rect">
            <a:avLst/>
          </a:prstGeom>
          <a:solidFill>
            <a:srgbClr val="D5D0C8"/>
          </a:solidFill>
          <a:ln/>
        </p:spPr>
      </p:sp>
      <p:graphicFrame>
        <p:nvGraphicFramePr>
          <p:cNvPr id="5" name="Chart 0" descr=""/>
          <p:cNvGraphicFramePr/>
          <p:nvPr/>
        </p:nvGraphicFramePr>
        <p:xfrm>
          <a:off x="762000" y="1333500"/>
          <a:ext cx="7112000" cy="3937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2000" y="5524500"/>
            <a:ext cx="7112000" cy="1841500"/>
          </a:xfrm>
          <a:prstGeom prst="rect">
            <a:avLst/>
          </a:prstGeom>
          <a:solidFill>
            <a:srgbClr val="E8E5DF"/>
          </a:solidFill>
          <a:ln/>
        </p:spPr>
      </p:sp>
      <p:sp>
        <p:nvSpPr>
          <p:cNvPr id="7" name="Shape 4"/>
          <p:cNvSpPr/>
          <p:nvPr/>
        </p:nvSpPr>
        <p:spPr>
          <a:xfrm>
            <a:off x="762000" y="5524500"/>
            <a:ext cx="50800" cy="1841500"/>
          </a:xfrm>
          <a:prstGeom prst="rect">
            <a:avLst/>
          </a:prstGeom>
          <a:solidFill>
            <a:srgbClr val="C49A3C"/>
          </a:solidFill>
          <a:ln/>
        </p:spPr>
      </p:sp>
      <p:sp>
        <p:nvSpPr>
          <p:cNvPr id="8" name="Text 5"/>
          <p:cNvSpPr/>
          <p:nvPr/>
        </p:nvSpPr>
        <p:spPr>
          <a:xfrm>
            <a:off x="1066800" y="5588000"/>
            <a:ext cx="6553200" cy="1714500"/>
          </a:xfrm>
          <a:prstGeom prst="rect">
            <a:avLst/>
          </a:prstGeom>
          <a:noFill/>
          <a:ln/>
        </p:spPr>
        <p:txBody>
          <a:bodyPr wrap="square" lIns="0" tIns="0" rIns="0" bIns="0" rtlCol="0" anchor="t"/>
          <a:lstStyle/>
          <a:p>
            <a:pPr algn="l">
              <a:lnSpc>
                <a:spcPct val="160000"/>
              </a:lnSpc>
            </a:pPr>
            <a:r>
              <a:rPr lang="en-US" sz="1600" b="1" dirty="0">
                <a:solidFill>
                  <a:srgbClr val="1C1C1E"/>
                </a:solidFill>
                <a:latin typeface="Quattrocento Sans" pitchFamily="34" charset="0"/>
                <a:ea typeface="Quattrocento Sans" pitchFamily="34" charset="-122"/>
                <a:cs typeface="Quattrocento Sans" pitchFamily="34" charset="-120"/>
              </a:rPr>
              <a:t>Salary Insight:</a:t>
            </a:r>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 Data Scientists command the highest average salary at </a:t>
            </a:r>
            <a:pPr algn="l">
              <a:lnSpc>
                <a:spcPct val="160000"/>
              </a:lnSpc>
            </a:pPr>
            <a:r>
              <a:rPr lang="en-US" sz="1600" b="1" dirty="0">
                <a:solidFill>
                  <a:srgbClr val="C49A3C"/>
                </a:solidFill>
                <a:latin typeface="Quattrocento Sans" pitchFamily="34" charset="0"/>
                <a:ea typeface="Quattrocento Sans" pitchFamily="34" charset="-122"/>
                <a:cs typeface="Quattrocento Sans" pitchFamily="34" charset="-120"/>
              </a:rPr>
              <a:t>$94K</a:t>
            </a:r>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 followed by Data Engineers ($65K) and Data Architects ($64K). Entry-level roles and students report significantly lower compensation, highlighting a clear experience-premium in the data industry.</a:t>
            </a:r>
            <a:endParaRPr lang="en-US" sz="1600" dirty="0"/>
          </a:p>
        </p:txBody>
      </p:sp>
      <p:graphicFrame>
        <p:nvGraphicFramePr>
          <p:cNvPr id="9" name="Chart 1" descr=""/>
          <p:cNvGraphicFramePr/>
          <p:nvPr/>
        </p:nvGraphicFramePr>
        <p:xfrm>
          <a:off x="8382000" y="1333500"/>
          <a:ext cx="7112000" cy="393700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8382000" y="5524500"/>
            <a:ext cx="7112000" cy="1841500"/>
          </a:xfrm>
          <a:prstGeom prst="rect">
            <a:avLst/>
          </a:prstGeom>
          <a:solidFill>
            <a:srgbClr val="E8E5DF"/>
          </a:solidFill>
          <a:ln/>
        </p:spPr>
      </p:sp>
      <p:sp>
        <p:nvSpPr>
          <p:cNvPr id="11" name="Shape 7"/>
          <p:cNvSpPr/>
          <p:nvPr/>
        </p:nvSpPr>
        <p:spPr>
          <a:xfrm>
            <a:off x="8382000" y="5524500"/>
            <a:ext cx="50800" cy="1841500"/>
          </a:xfrm>
          <a:prstGeom prst="rect">
            <a:avLst/>
          </a:prstGeom>
          <a:solidFill>
            <a:srgbClr val="C49A3C"/>
          </a:solidFill>
          <a:ln/>
        </p:spPr>
      </p:sp>
      <p:sp>
        <p:nvSpPr>
          <p:cNvPr id="12" name="Text 8"/>
          <p:cNvSpPr/>
          <p:nvPr/>
        </p:nvSpPr>
        <p:spPr>
          <a:xfrm>
            <a:off x="8686800" y="5588000"/>
            <a:ext cx="6553200" cy="1714500"/>
          </a:xfrm>
          <a:prstGeom prst="rect">
            <a:avLst/>
          </a:prstGeom>
          <a:noFill/>
          <a:ln/>
        </p:spPr>
        <p:txBody>
          <a:bodyPr wrap="square" lIns="0" tIns="0" rIns="0" bIns="0" rtlCol="0" anchor="t"/>
          <a:lstStyle/>
          <a:p>
            <a:pPr algn="l">
              <a:lnSpc>
                <a:spcPct val="160000"/>
              </a:lnSpc>
            </a:pPr>
            <a:r>
              <a:rPr lang="en-US" sz="1600" b="1" dirty="0">
                <a:solidFill>
                  <a:srgbClr val="1C1C1E"/>
                </a:solidFill>
                <a:latin typeface="Quattrocento Sans" pitchFamily="34" charset="0"/>
                <a:ea typeface="Quattrocento Sans" pitchFamily="34" charset="-122"/>
                <a:cs typeface="Quattrocento Sans" pitchFamily="34" charset="-120"/>
              </a:rPr>
              <a:t>Language Insight:</a:t>
            </a:r>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600" b="1" dirty="0">
                <a:solidFill>
                  <a:srgbClr val="C49A3C"/>
                </a:solidFill>
                <a:latin typeface="Quattrocento Sans" pitchFamily="34" charset="0"/>
                <a:ea typeface="Quattrocento Sans" pitchFamily="34" charset="-122"/>
                <a:cs typeface="Quattrocento Sans" pitchFamily="34" charset="-120"/>
              </a:rPr>
              <a:t>Python</a:t>
            </a:r>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 is the dominant programming language with 255 votes, 4x more than R (61). SQL also ranks highly. JavaScript and Java received minimal preferences, suggesting data professionals prioritize analytical over general-purpose languages.</a:t>
            </a:r>
            <a:endParaRPr lang="en-US" sz="1600" dirty="0"/>
          </a:p>
        </p:txBody>
      </p:sp>
      <p:sp>
        <p:nvSpPr>
          <p:cNvPr id="13" name="Text 9"/>
          <p:cNvSpPr/>
          <p:nvPr/>
        </p:nvSpPr>
        <p:spPr>
          <a:xfrm>
            <a:off x="762000" y="7493000"/>
            <a:ext cx="14732000" cy="254000"/>
          </a:xfrm>
          <a:prstGeom prst="rect">
            <a:avLst/>
          </a:prstGeom>
          <a:noFill/>
          <a:ln/>
        </p:spPr>
        <p:txBody>
          <a:bodyPr wrap="square" lIns="0" tIns="0" rIns="0" bIns="0" rtlCol="0" anchor="ctr"/>
          <a:lstStyle/>
          <a:p>
            <a:pPr algn="l">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Source: Data Professional Survey, June 2022 (n=630). Salary values represent midpoint of reported ranges in USD thousands.</a:t>
            </a:r>
            <a:endParaRPr lang="en-US" sz="1200" dirty="0"/>
          </a:p>
        </p:txBody>
      </p:sp>
      <p:sp>
        <p:nvSpPr>
          <p:cNvPr id="14" name="Text 10"/>
          <p:cNvSpPr/>
          <p:nvPr/>
        </p:nvSpPr>
        <p:spPr>
          <a:xfrm>
            <a:off x="14859000" y="8763000"/>
            <a:ext cx="889000" cy="254000"/>
          </a:xfrm>
          <a:prstGeom prst="rect">
            <a:avLst/>
          </a:prstGeom>
          <a:noFill/>
          <a:ln/>
        </p:spPr>
        <p:txBody>
          <a:bodyPr wrap="none" lIns="0" tIns="0" rIns="0" bIns="0" rtlCol="0" anchor="ctr"/>
          <a:lstStyle/>
          <a:p>
            <a:pPr algn="r">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06 / 08</a:t>
            </a:r>
            <a:endParaRPr lang="en-US" sz="12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508000"/>
            <a:ext cx="13970000" cy="482600"/>
          </a:xfrm>
          <a:prstGeom prst="rect">
            <a:avLst/>
          </a:prstGeom>
          <a:noFill/>
          <a:ln/>
        </p:spPr>
        <p:txBody>
          <a:bodyPr wrap="none" lIns="0" tIns="0" rIns="0" bIns="0" rtlCol="0" anchor="ctr"/>
          <a:lstStyle/>
          <a:p>
            <a:pPr algn="l">
              <a:lnSpc>
                <a:spcPct val="130000"/>
              </a:lnSpc>
            </a:pPr>
            <a:r>
              <a:rPr lang="en-US" sz="2600" dirty="0">
                <a:solidFill>
                  <a:srgbClr val="2D4A52"/>
                </a:solidFill>
                <a:latin typeface="Oranienbaum" pitchFamily="34" charset="0"/>
                <a:ea typeface="Oranienbaum" pitchFamily="34" charset="-122"/>
                <a:cs typeface="Oranienbaum" pitchFamily="34" charset="-120"/>
              </a:rPr>
              <a:t>Career Satisfaction Lags Compensation; U.S. Dominates Global Responses</a:t>
            </a:r>
            <a:endParaRPr lang="en-US" sz="2600" dirty="0"/>
          </a:p>
        </p:txBody>
      </p:sp>
      <p:sp>
        <p:nvSpPr>
          <p:cNvPr id="4" name="Shape 2"/>
          <p:cNvSpPr/>
          <p:nvPr/>
        </p:nvSpPr>
        <p:spPr>
          <a:xfrm>
            <a:off x="762000" y="1066800"/>
            <a:ext cx="14732000" cy="12700"/>
          </a:xfrm>
          <a:prstGeom prst="rect">
            <a:avLst/>
          </a:prstGeom>
          <a:solidFill>
            <a:srgbClr val="D5D0C8"/>
          </a:solidFill>
          <a:ln/>
        </p:spPr>
      </p:sp>
      <p:graphicFrame>
        <p:nvGraphicFramePr>
          <p:cNvPr id="5" name="Chart 0" descr=""/>
          <p:cNvGraphicFramePr/>
          <p:nvPr/>
        </p:nvGraphicFramePr>
        <p:xfrm>
          <a:off x="762000" y="1333500"/>
          <a:ext cx="6858000" cy="355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62000" y="5016500"/>
            <a:ext cx="6858000" cy="1270000"/>
          </a:xfrm>
          <a:prstGeom prst="rect">
            <a:avLst/>
          </a:prstGeom>
          <a:noFill/>
          <a:ln/>
        </p:spPr>
        <p:txBody>
          <a:bodyPr wrap="square" lIns="0" tIns="0" rIns="0" bIns="0" rtlCol="0" anchor="t"/>
          <a:lstStyle/>
          <a:p>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The </a:t>
            </a:r>
            <a:pPr algn="l">
              <a:lnSpc>
                <a:spcPct val="160000"/>
              </a:lnSpc>
            </a:pPr>
            <a:r>
              <a:rPr lang="en-US" sz="1600" b="1" dirty="0">
                <a:solidFill>
                  <a:srgbClr val="C49A3C"/>
                </a:solidFill>
                <a:latin typeface="Quattrocento Sans" pitchFamily="34" charset="0"/>
                <a:ea typeface="Quattrocento Sans" pitchFamily="34" charset="-122"/>
                <a:cs typeface="Quattrocento Sans" pitchFamily="34" charset="-120"/>
              </a:rPr>
              <a:t>United States</a:t>
            </a:r>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 overwhelmingly dominates with 20,651 responses, followed by Canada (2,186) and India (2,177). This concentration suggests the survey primarily reflects the North American data job market.</a:t>
            </a:r>
            <a:endParaRPr lang="en-US" sz="1600" dirty="0"/>
          </a:p>
        </p:txBody>
      </p:sp>
      <p:graphicFrame>
        <p:nvGraphicFramePr>
          <p:cNvPr id="7" name="Chart 1" descr=""/>
          <p:cNvGraphicFramePr/>
          <p:nvPr/>
        </p:nvGraphicFramePr>
        <p:xfrm>
          <a:off x="8382000" y="1333500"/>
          <a:ext cx="7112000" cy="35560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8382000" y="5016500"/>
            <a:ext cx="7112000" cy="1270000"/>
          </a:xfrm>
          <a:prstGeom prst="rect">
            <a:avLst/>
          </a:prstGeom>
          <a:noFill/>
          <a:ln/>
        </p:spPr>
        <p:txBody>
          <a:bodyPr wrap="square" lIns="0" tIns="0" rIns="0" bIns="0" rtlCol="0" anchor="t"/>
          <a:lstStyle/>
          <a:p>
            <a:pPr algn="l">
              <a:lnSpc>
                <a:spcPct val="160000"/>
              </a:lnSpc>
            </a:pPr>
            <a:r>
              <a:rPr lang="en-US" sz="1600" b="1" dirty="0">
                <a:solidFill>
                  <a:srgbClr val="C49A3C"/>
                </a:solidFill>
                <a:latin typeface="Quattrocento Sans" pitchFamily="34" charset="0"/>
                <a:ea typeface="Quattrocento Sans" pitchFamily="34" charset="-122"/>
                <a:cs typeface="Quattrocento Sans" pitchFamily="34" charset="-120"/>
              </a:rPr>
              <a:t>42.7%</a:t>
            </a:r>
            <a:pPr algn="l">
              <a:lnSpc>
                <a:spcPct val="160000"/>
              </a:lnSpc>
            </a:pPr>
            <a:r>
              <a:rPr lang="en-US" sz="1600" dirty="0">
                <a:solidFill>
                  <a:srgbClr val="1C1C1E"/>
                </a:solidFill>
                <a:latin typeface="Quattrocento Sans" pitchFamily="34" charset="0"/>
                <a:ea typeface="Quattrocento Sans" pitchFamily="34" charset="-122"/>
                <a:cs typeface="Quattrocento Sans" pitchFamily="34" charset="-120"/>
              </a:rPr>
              <a:t> found breaking into data "neither easy nor difficult," while 31.7% found it difficult or very difficult. Only 25.6% considered it easy, highlighting the importance of practical skills and mentorship.</a:t>
            </a:r>
            <a:endParaRPr lang="en-US" sz="1600" dirty="0"/>
          </a:p>
        </p:txBody>
      </p:sp>
      <p:sp>
        <p:nvSpPr>
          <p:cNvPr id="9" name="Shape 5"/>
          <p:cNvSpPr/>
          <p:nvPr/>
        </p:nvSpPr>
        <p:spPr>
          <a:xfrm>
            <a:off x="762000" y="6350000"/>
            <a:ext cx="14732000" cy="584200"/>
          </a:xfrm>
          <a:prstGeom prst="rect">
            <a:avLst/>
          </a:prstGeom>
          <a:solidFill>
            <a:srgbClr val="2D4A52"/>
          </a:solidFill>
          <a:ln/>
        </p:spPr>
      </p:sp>
      <p:sp>
        <p:nvSpPr>
          <p:cNvPr id="10" name="Text 6"/>
          <p:cNvSpPr/>
          <p:nvPr/>
        </p:nvSpPr>
        <p:spPr>
          <a:xfrm>
            <a:off x="1143000" y="6350000"/>
            <a:ext cx="13970000" cy="584200"/>
          </a:xfrm>
          <a:prstGeom prst="rect">
            <a:avLst/>
          </a:prstGeom>
          <a:noFill/>
          <a:ln/>
        </p:spPr>
        <p:txBody>
          <a:bodyPr wrap="none" lIns="0" tIns="0" rIns="0" bIns="0" rtlCol="0" anchor="ctr"/>
          <a:lstStyle/>
          <a:p>
            <a:pPr algn="l">
              <a:lnSpc>
                <a:spcPct val="120000"/>
              </a:lnSpc>
            </a:pPr>
            <a:r>
              <a:rPr lang="en-US" sz="1800" dirty="0">
                <a:solidFill>
                  <a:srgbClr val="FFFFFF"/>
                </a:solidFill>
                <a:latin typeface="Oranienbaum" pitchFamily="34" charset="0"/>
                <a:ea typeface="Oranienbaum" pitchFamily="34" charset="-122"/>
                <a:cs typeface="Oranienbaum" pitchFamily="34" charset="-120"/>
              </a:rPr>
              <a:t>Career Satisfaction Comparison</a:t>
            </a:r>
            <a:endParaRPr lang="en-US" sz="1800" dirty="0"/>
          </a:p>
        </p:txBody>
      </p:sp>
      <p:sp>
        <p:nvSpPr>
          <p:cNvPr id="11" name="Shape 7"/>
          <p:cNvSpPr/>
          <p:nvPr/>
        </p:nvSpPr>
        <p:spPr>
          <a:xfrm>
            <a:off x="762000" y="7061200"/>
            <a:ext cx="7112000" cy="1016000"/>
          </a:xfrm>
          <a:prstGeom prst="rect">
            <a:avLst/>
          </a:prstGeom>
          <a:solidFill>
            <a:srgbClr val="E8E5DF"/>
          </a:solidFill>
          <a:ln/>
        </p:spPr>
      </p:sp>
      <p:sp>
        <p:nvSpPr>
          <p:cNvPr id="12" name="Text 8"/>
          <p:cNvSpPr/>
          <p:nvPr/>
        </p:nvSpPr>
        <p:spPr>
          <a:xfrm>
            <a:off x="1016000" y="7086600"/>
            <a:ext cx="1524000" cy="635000"/>
          </a:xfrm>
          <a:prstGeom prst="rect">
            <a:avLst/>
          </a:prstGeom>
          <a:noFill/>
          <a:ln/>
        </p:spPr>
        <p:txBody>
          <a:bodyPr wrap="none" lIns="0" tIns="0" rIns="0" bIns="0" rtlCol="0" anchor="ctr"/>
          <a:lstStyle/>
          <a:p>
            <a:pPr algn="ctr">
              <a:lnSpc>
                <a:spcPct val="120000"/>
              </a:lnSpc>
            </a:pPr>
            <a:r>
              <a:rPr lang="en-US" sz="4000" dirty="0">
                <a:solidFill>
                  <a:srgbClr val="C49A3C"/>
                </a:solidFill>
                <a:latin typeface="Oranienbaum" pitchFamily="34" charset="0"/>
                <a:ea typeface="Oranienbaum" pitchFamily="34" charset="-122"/>
                <a:cs typeface="Oranienbaum" pitchFamily="34" charset="-120"/>
              </a:rPr>
              <a:t>5.74</a:t>
            </a:r>
            <a:endParaRPr lang="en-US" sz="4000" dirty="0"/>
          </a:p>
        </p:txBody>
      </p:sp>
      <p:sp>
        <p:nvSpPr>
          <p:cNvPr id="13" name="Text 9"/>
          <p:cNvSpPr/>
          <p:nvPr/>
        </p:nvSpPr>
        <p:spPr>
          <a:xfrm>
            <a:off x="2667000" y="7188200"/>
            <a:ext cx="4953000" cy="304800"/>
          </a:xfrm>
          <a:prstGeom prst="rect">
            <a:avLst/>
          </a:prstGeom>
          <a:noFill/>
          <a:ln/>
        </p:spPr>
        <p:txBody>
          <a:bodyPr wrap="none" lIns="0" tIns="0" rIns="0" bIns="0" rtlCol="0" anchor="ctr"/>
          <a:lstStyle/>
          <a:p>
            <a:pPr algn="l">
              <a:lnSpc>
                <a:spcPct val="120000"/>
              </a:lnSpc>
            </a:pPr>
            <a:r>
              <a:rPr lang="en-US" sz="1600" dirty="0">
                <a:solidFill>
                  <a:srgbClr val="1C1C1E"/>
                </a:solidFill>
                <a:latin typeface="Quattrocento Sans" pitchFamily="34" charset="0"/>
                <a:ea typeface="Quattrocento Sans" pitchFamily="34" charset="-122"/>
                <a:cs typeface="Quattrocento Sans" pitchFamily="34" charset="-120"/>
              </a:rPr>
              <a:t>Work/Life Balance Happiness /10</a:t>
            </a:r>
            <a:endParaRPr lang="en-US" sz="1600" dirty="0"/>
          </a:p>
        </p:txBody>
      </p:sp>
      <p:sp>
        <p:nvSpPr>
          <p:cNvPr id="14" name="Text 10"/>
          <p:cNvSpPr/>
          <p:nvPr/>
        </p:nvSpPr>
        <p:spPr>
          <a:xfrm>
            <a:off x="2667000" y="7543800"/>
            <a:ext cx="4953000" cy="381000"/>
          </a:xfrm>
          <a:prstGeom prst="rect">
            <a:avLst/>
          </a:prstGeom>
          <a:noFill/>
          <a:ln/>
        </p:spPr>
        <p:txBody>
          <a:bodyPr wrap="square" lIns="0" tIns="0" rIns="0" bIns="0" rtlCol="0" anchor="ctr"/>
          <a:lstStyle/>
          <a:p>
            <a:pPr algn="l">
              <a:lnSpc>
                <a:spcPct val="120000"/>
              </a:lnSpc>
            </a:pPr>
            <a:r>
              <a:rPr lang="en-US" sz="1300" dirty="0">
                <a:solidFill>
                  <a:srgbClr val="8B8175"/>
                </a:solidFill>
                <a:latin typeface="Quattrocento Sans" pitchFamily="34" charset="0"/>
                <a:ea typeface="Quattrocento Sans" pitchFamily="34" charset="-122"/>
                <a:cs typeface="Quattrocento Sans" pitchFamily="34" charset="-120"/>
              </a:rPr>
              <a:t>Above midpoint - generally positive perception</a:t>
            </a:r>
            <a:endParaRPr lang="en-US" sz="1300" dirty="0"/>
          </a:p>
        </p:txBody>
      </p:sp>
      <p:sp>
        <p:nvSpPr>
          <p:cNvPr id="15" name="Shape 11"/>
          <p:cNvSpPr/>
          <p:nvPr/>
        </p:nvSpPr>
        <p:spPr>
          <a:xfrm>
            <a:off x="8382000" y="7061200"/>
            <a:ext cx="7112000" cy="1016000"/>
          </a:xfrm>
          <a:prstGeom prst="rect">
            <a:avLst/>
          </a:prstGeom>
          <a:solidFill>
            <a:srgbClr val="E8E5DF"/>
          </a:solidFill>
          <a:ln/>
        </p:spPr>
      </p:sp>
      <p:sp>
        <p:nvSpPr>
          <p:cNvPr id="16" name="Text 12"/>
          <p:cNvSpPr/>
          <p:nvPr/>
        </p:nvSpPr>
        <p:spPr>
          <a:xfrm>
            <a:off x="8636000" y="7086600"/>
            <a:ext cx="1524000" cy="635000"/>
          </a:xfrm>
          <a:prstGeom prst="rect">
            <a:avLst/>
          </a:prstGeom>
          <a:noFill/>
          <a:ln/>
        </p:spPr>
        <p:txBody>
          <a:bodyPr wrap="none" lIns="0" tIns="0" rIns="0" bIns="0" rtlCol="0" anchor="ctr"/>
          <a:lstStyle/>
          <a:p>
            <a:pPr algn="ctr">
              <a:lnSpc>
                <a:spcPct val="120000"/>
              </a:lnSpc>
            </a:pPr>
            <a:r>
              <a:rPr lang="en-US" sz="4000" dirty="0">
                <a:solidFill>
                  <a:srgbClr val="2D4A52"/>
                </a:solidFill>
                <a:latin typeface="Oranienbaum" pitchFamily="34" charset="0"/>
                <a:ea typeface="Oranienbaum" pitchFamily="34" charset="-122"/>
                <a:cs typeface="Oranienbaum" pitchFamily="34" charset="-120"/>
              </a:rPr>
              <a:t>4.27</a:t>
            </a:r>
            <a:endParaRPr lang="en-US" sz="4000" dirty="0"/>
          </a:p>
        </p:txBody>
      </p:sp>
      <p:sp>
        <p:nvSpPr>
          <p:cNvPr id="17" name="Text 13"/>
          <p:cNvSpPr/>
          <p:nvPr/>
        </p:nvSpPr>
        <p:spPr>
          <a:xfrm>
            <a:off x="10287000" y="7188200"/>
            <a:ext cx="4953000" cy="304800"/>
          </a:xfrm>
          <a:prstGeom prst="rect">
            <a:avLst/>
          </a:prstGeom>
          <a:noFill/>
          <a:ln/>
        </p:spPr>
        <p:txBody>
          <a:bodyPr wrap="none" lIns="0" tIns="0" rIns="0" bIns="0" rtlCol="0" anchor="ctr"/>
          <a:lstStyle/>
          <a:p>
            <a:pPr algn="l">
              <a:lnSpc>
                <a:spcPct val="120000"/>
              </a:lnSpc>
            </a:pPr>
            <a:r>
              <a:rPr lang="en-US" sz="1600" dirty="0">
                <a:solidFill>
                  <a:srgbClr val="1C1C1E"/>
                </a:solidFill>
                <a:latin typeface="Quattrocento Sans" pitchFamily="34" charset="0"/>
                <a:ea typeface="Quattrocento Sans" pitchFamily="34" charset="-122"/>
                <a:cs typeface="Quattrocento Sans" pitchFamily="34" charset="-120"/>
              </a:rPr>
              <a:t>Salary Happiness /10</a:t>
            </a:r>
            <a:endParaRPr lang="en-US" sz="1600" dirty="0"/>
          </a:p>
        </p:txBody>
      </p:sp>
      <p:sp>
        <p:nvSpPr>
          <p:cNvPr id="18" name="Text 14"/>
          <p:cNvSpPr/>
          <p:nvPr/>
        </p:nvSpPr>
        <p:spPr>
          <a:xfrm>
            <a:off x="10287000" y="7543800"/>
            <a:ext cx="4953000" cy="381000"/>
          </a:xfrm>
          <a:prstGeom prst="rect">
            <a:avLst/>
          </a:prstGeom>
          <a:noFill/>
          <a:ln/>
        </p:spPr>
        <p:txBody>
          <a:bodyPr wrap="square" lIns="0" tIns="0" rIns="0" bIns="0" rtlCol="0" anchor="ctr"/>
          <a:lstStyle/>
          <a:p>
            <a:pPr algn="l">
              <a:lnSpc>
                <a:spcPct val="120000"/>
              </a:lnSpc>
            </a:pPr>
            <a:r>
              <a:rPr lang="en-US" sz="1300" dirty="0">
                <a:solidFill>
                  <a:srgbClr val="8B8175"/>
                </a:solidFill>
                <a:latin typeface="Quattrocento Sans" pitchFamily="34" charset="0"/>
                <a:ea typeface="Quattrocento Sans" pitchFamily="34" charset="-122"/>
                <a:cs typeface="Quattrocento Sans" pitchFamily="34" charset="-120"/>
              </a:rPr>
              <a:t>Below midpoint - significant compensation gap</a:t>
            </a:r>
            <a:endParaRPr lang="en-US" sz="1300" dirty="0"/>
          </a:p>
        </p:txBody>
      </p:sp>
      <p:sp>
        <p:nvSpPr>
          <p:cNvPr id="19" name="Text 1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8B8175"/>
                </a:solidFill>
                <a:latin typeface="Quattrocento Sans" pitchFamily="34" charset="0"/>
                <a:ea typeface="Quattrocento Sans" pitchFamily="34" charset="-122"/>
                <a:cs typeface="Quattrocento Sans" pitchFamily="34" charset="-120"/>
              </a:rPr>
              <a:t>07 / 08</a:t>
            </a:r>
            <a:endParaRPr lang="en-US" sz="12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4A52"/>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C49A3C"/>
          </a:solidFill>
          <a:ln/>
        </p:spPr>
      </p:sp>
      <p:sp>
        <p:nvSpPr>
          <p:cNvPr id="3" name="Text 1"/>
          <p:cNvSpPr/>
          <p:nvPr/>
        </p:nvSpPr>
        <p:spPr>
          <a:xfrm>
            <a:off x="762000" y="635000"/>
            <a:ext cx="14732000" cy="533400"/>
          </a:xfrm>
          <a:prstGeom prst="rect">
            <a:avLst/>
          </a:prstGeom>
          <a:noFill/>
          <a:ln/>
        </p:spPr>
        <p:txBody>
          <a:bodyPr wrap="none" lIns="0" tIns="0" rIns="0" bIns="0" rtlCol="0" anchor="ctr"/>
          <a:lstStyle/>
          <a:p>
            <a:pPr algn="ctr">
              <a:lnSpc>
                <a:spcPct val="120000"/>
              </a:lnSpc>
            </a:pPr>
            <a:r>
              <a:rPr lang="en-US" sz="3200" spc="200" kern="0" dirty="0">
                <a:solidFill>
                  <a:srgbClr val="FFFFFF"/>
                </a:solidFill>
                <a:latin typeface="Oranienbaum" pitchFamily="34" charset="0"/>
                <a:ea typeface="Oranienbaum" pitchFamily="34" charset="-122"/>
                <a:cs typeface="Oranienbaum" pitchFamily="34" charset="-120"/>
              </a:rPr>
              <a:t>BUSINESS RECOMMENDATIONS &amp; OUTCOMES</a:t>
            </a:r>
            <a:endParaRPr lang="en-US" sz="3200" dirty="0"/>
          </a:p>
        </p:txBody>
      </p:sp>
      <p:sp>
        <p:nvSpPr>
          <p:cNvPr id="4" name="Shape 2"/>
          <p:cNvSpPr/>
          <p:nvPr/>
        </p:nvSpPr>
        <p:spPr>
          <a:xfrm>
            <a:off x="6223000" y="1270000"/>
            <a:ext cx="3810000" cy="25400"/>
          </a:xfrm>
          <a:prstGeom prst="rect">
            <a:avLst/>
          </a:prstGeom>
          <a:solidFill>
            <a:srgbClr val="C49A3C"/>
          </a:solidFill>
          <a:ln/>
        </p:spPr>
      </p:sp>
      <p:sp>
        <p:nvSpPr>
          <p:cNvPr id="5" name="Shape 3"/>
          <p:cNvSpPr/>
          <p:nvPr/>
        </p:nvSpPr>
        <p:spPr>
          <a:xfrm>
            <a:off x="762000" y="1587500"/>
            <a:ext cx="4572000" cy="1841500"/>
          </a:xfrm>
          <a:prstGeom prst="rect">
            <a:avLst/>
          </a:prstGeom>
          <a:solidFill>
            <a:srgbClr val="3A5A62"/>
          </a:solidFill>
          <a:ln/>
        </p:spPr>
      </p:sp>
      <p:sp>
        <p:nvSpPr>
          <p:cNvPr id="6" name="Text 4"/>
          <p:cNvSpPr/>
          <p:nvPr/>
        </p:nvSpPr>
        <p:spPr>
          <a:xfrm>
            <a:off x="965200" y="1676400"/>
            <a:ext cx="508000" cy="381000"/>
          </a:xfrm>
          <a:prstGeom prst="rect">
            <a:avLst/>
          </a:prstGeom>
          <a:noFill/>
          <a:ln/>
        </p:spPr>
        <p:txBody>
          <a:bodyPr wrap="none" lIns="0" tIns="0" rIns="0" bIns="0" rtlCol="0" anchor="ctr"/>
          <a:lstStyle/>
          <a:p>
            <a:pPr algn="ctr">
              <a:lnSpc>
                <a:spcPct val="120000"/>
              </a:lnSpc>
            </a:pPr>
            <a:r>
              <a:rPr lang="en-US" sz="2200" dirty="0">
                <a:solidFill>
                  <a:srgbClr val="C49A3C"/>
                </a:solidFill>
                <a:latin typeface="Oranienbaum" pitchFamily="34" charset="0"/>
                <a:ea typeface="Oranienbaum" pitchFamily="34" charset="-122"/>
                <a:cs typeface="Oranienbaum" pitchFamily="34" charset="-120"/>
              </a:rPr>
              <a:t>01</a:t>
            </a:r>
            <a:endParaRPr lang="en-US" sz="2200" dirty="0"/>
          </a:p>
        </p:txBody>
      </p:sp>
      <p:sp>
        <p:nvSpPr>
          <p:cNvPr id="7" name="Text 5"/>
          <p:cNvSpPr/>
          <p:nvPr/>
        </p:nvSpPr>
        <p:spPr>
          <a:xfrm>
            <a:off x="965200" y="2108200"/>
            <a:ext cx="4165600" cy="1219200"/>
          </a:xfrm>
          <a:prstGeom prst="rect">
            <a:avLst/>
          </a:prstGeom>
          <a:noFill/>
          <a:ln/>
        </p:spPr>
        <p:txBody>
          <a:bodyPr wrap="square" lIns="0" tIns="0" rIns="0" bIns="0" rtlCol="0" anchor="t"/>
          <a:lstStyle/>
          <a:p>
            <a:pPr algn="l">
              <a:lnSpc>
                <a:spcPct val="150000"/>
              </a:lnSpc>
            </a:pPr>
            <a:r>
              <a:rPr lang="en-US" sz="1500" b="1" dirty="0">
                <a:solidFill>
                  <a:srgbClr val="FFFFFF"/>
                </a:solidFill>
                <a:latin typeface="Quattrocento Sans" pitchFamily="34" charset="0"/>
                <a:ea typeface="Quattrocento Sans" pitchFamily="34" charset="-122"/>
                <a:cs typeface="Quattrocento Sans" pitchFamily="34" charset="-120"/>
              </a:rPr>
              <a:t>Invest in Python Training</a:t>
            </a:r>
            <a:endParaRPr lang="en-US" sz="1500" dirty="0"/>
          </a:p>
          <a:p>
            <a:pPr algn="l">
              <a:lnSpc>
                <a:spcPct val="150000"/>
              </a:lnSpc>
              <a:spcBef>
                <a:spcPts val="400"/>
              </a:spcBef>
            </a:pPr>
            <a:r>
              <a:rPr lang="en-US" sz="1500" dirty="0">
                <a:solidFill>
                  <a:srgbClr val="FFFFFF"/>
                </a:solidFill>
                <a:latin typeface="Quattrocento Sans" pitchFamily="34" charset="0"/>
                <a:ea typeface="Quattrocento Sans" pitchFamily="34" charset="-122"/>
                <a:cs typeface="Quattrocento Sans" pitchFamily="34" charset="-120"/>
              </a:rPr>
              <a:t>Python's 4x lead over other languages makes it essential for any data career path.</a:t>
            </a:r>
            <a:endParaRPr lang="en-US" sz="1500" dirty="0"/>
          </a:p>
        </p:txBody>
      </p:sp>
      <p:sp>
        <p:nvSpPr>
          <p:cNvPr id="8" name="Shape 6"/>
          <p:cNvSpPr/>
          <p:nvPr/>
        </p:nvSpPr>
        <p:spPr>
          <a:xfrm>
            <a:off x="5842000" y="1587500"/>
            <a:ext cx="4572000" cy="1841500"/>
          </a:xfrm>
          <a:prstGeom prst="rect">
            <a:avLst/>
          </a:prstGeom>
          <a:solidFill>
            <a:srgbClr val="3A5A62"/>
          </a:solidFill>
          <a:ln/>
        </p:spPr>
      </p:sp>
      <p:sp>
        <p:nvSpPr>
          <p:cNvPr id="9" name="Text 7"/>
          <p:cNvSpPr/>
          <p:nvPr/>
        </p:nvSpPr>
        <p:spPr>
          <a:xfrm>
            <a:off x="6045200" y="1676400"/>
            <a:ext cx="635000" cy="381000"/>
          </a:xfrm>
          <a:prstGeom prst="rect">
            <a:avLst/>
          </a:prstGeom>
          <a:noFill/>
          <a:ln/>
        </p:spPr>
        <p:txBody>
          <a:bodyPr wrap="none" lIns="0" tIns="0" rIns="0" bIns="0" rtlCol="0" anchor="ctr"/>
          <a:lstStyle/>
          <a:p>
            <a:pPr algn="ctr">
              <a:lnSpc>
                <a:spcPct val="120000"/>
              </a:lnSpc>
            </a:pPr>
            <a:r>
              <a:rPr lang="en-US" sz="2200" dirty="0">
                <a:solidFill>
                  <a:srgbClr val="C49A3C"/>
                </a:solidFill>
                <a:latin typeface="Oranienbaum" pitchFamily="34" charset="0"/>
                <a:ea typeface="Oranienbaum" pitchFamily="34" charset="-122"/>
                <a:cs typeface="Oranienbaum" pitchFamily="34" charset="-120"/>
              </a:rPr>
              <a:t>02</a:t>
            </a:r>
            <a:endParaRPr lang="en-US" sz="2200" dirty="0"/>
          </a:p>
        </p:txBody>
      </p:sp>
      <p:sp>
        <p:nvSpPr>
          <p:cNvPr id="10" name="Text 8"/>
          <p:cNvSpPr/>
          <p:nvPr/>
        </p:nvSpPr>
        <p:spPr>
          <a:xfrm>
            <a:off x="6045200" y="2108200"/>
            <a:ext cx="4165600" cy="1219200"/>
          </a:xfrm>
          <a:prstGeom prst="rect">
            <a:avLst/>
          </a:prstGeom>
          <a:noFill/>
          <a:ln/>
        </p:spPr>
        <p:txBody>
          <a:bodyPr wrap="square" lIns="0" tIns="0" rIns="0" bIns="0" rtlCol="0" anchor="t"/>
          <a:lstStyle/>
          <a:p>
            <a:pPr algn="l">
              <a:lnSpc>
                <a:spcPct val="150000"/>
              </a:lnSpc>
            </a:pPr>
            <a:r>
              <a:rPr lang="en-US" sz="1500" b="1" dirty="0">
                <a:solidFill>
                  <a:srgbClr val="FFFFFF"/>
                </a:solidFill>
                <a:latin typeface="Quattrocento Sans" pitchFamily="34" charset="0"/>
                <a:ea typeface="Quattrocento Sans" pitchFamily="34" charset="-122"/>
                <a:cs typeface="Quattrocento Sans" pitchFamily="34" charset="-120"/>
              </a:rPr>
              <a:t>Benchmark Salaries Competitively</a:t>
            </a:r>
            <a:endParaRPr lang="en-US" sz="1500" dirty="0"/>
          </a:p>
          <a:p>
            <a:pPr algn="l">
              <a:lnSpc>
                <a:spcPct val="150000"/>
              </a:lnSpc>
              <a:spcBef>
                <a:spcPts val="400"/>
              </a:spcBef>
            </a:pPr>
            <a:r>
              <a:rPr lang="en-US" sz="1500" dirty="0">
                <a:solidFill>
                  <a:srgbClr val="FFFFFF"/>
                </a:solidFill>
                <a:latin typeface="Quattrocento Sans" pitchFamily="34" charset="0"/>
                <a:ea typeface="Quattrocento Sans" pitchFamily="34" charset="-122"/>
                <a:cs typeface="Quattrocento Sans" pitchFamily="34" charset="-120"/>
              </a:rPr>
              <a:t>Data Scientists earn $94K avg - organizations must match market rates to attract talent.</a:t>
            </a:r>
            <a:endParaRPr lang="en-US" sz="1500" dirty="0"/>
          </a:p>
        </p:txBody>
      </p:sp>
      <p:sp>
        <p:nvSpPr>
          <p:cNvPr id="11" name="Shape 9"/>
          <p:cNvSpPr/>
          <p:nvPr/>
        </p:nvSpPr>
        <p:spPr>
          <a:xfrm>
            <a:off x="10922000" y="1587500"/>
            <a:ext cx="4572000" cy="1841500"/>
          </a:xfrm>
          <a:prstGeom prst="rect">
            <a:avLst/>
          </a:prstGeom>
          <a:solidFill>
            <a:srgbClr val="3A5A62"/>
          </a:solidFill>
          <a:ln/>
        </p:spPr>
      </p:sp>
      <p:sp>
        <p:nvSpPr>
          <p:cNvPr id="12" name="Text 10"/>
          <p:cNvSpPr/>
          <p:nvPr/>
        </p:nvSpPr>
        <p:spPr>
          <a:xfrm>
            <a:off x="11125200" y="1676400"/>
            <a:ext cx="635000" cy="381000"/>
          </a:xfrm>
          <a:prstGeom prst="rect">
            <a:avLst/>
          </a:prstGeom>
          <a:noFill/>
          <a:ln/>
        </p:spPr>
        <p:txBody>
          <a:bodyPr wrap="none" lIns="0" tIns="0" rIns="0" bIns="0" rtlCol="0" anchor="ctr"/>
          <a:lstStyle/>
          <a:p>
            <a:pPr algn="ctr">
              <a:lnSpc>
                <a:spcPct val="120000"/>
              </a:lnSpc>
            </a:pPr>
            <a:r>
              <a:rPr lang="en-US" sz="2200" dirty="0">
                <a:solidFill>
                  <a:srgbClr val="C49A3C"/>
                </a:solidFill>
                <a:latin typeface="Oranienbaum" pitchFamily="34" charset="0"/>
                <a:ea typeface="Oranienbaum" pitchFamily="34" charset="-122"/>
                <a:cs typeface="Oranienbaum" pitchFamily="34" charset="-120"/>
              </a:rPr>
              <a:t>03</a:t>
            </a:r>
            <a:endParaRPr lang="en-US" sz="2200" dirty="0"/>
          </a:p>
        </p:txBody>
      </p:sp>
      <p:sp>
        <p:nvSpPr>
          <p:cNvPr id="13" name="Text 11"/>
          <p:cNvSpPr/>
          <p:nvPr/>
        </p:nvSpPr>
        <p:spPr>
          <a:xfrm>
            <a:off x="11125200" y="2108200"/>
            <a:ext cx="4165600" cy="1219200"/>
          </a:xfrm>
          <a:prstGeom prst="rect">
            <a:avLst/>
          </a:prstGeom>
          <a:noFill/>
          <a:ln/>
        </p:spPr>
        <p:txBody>
          <a:bodyPr wrap="square" lIns="0" tIns="0" rIns="0" bIns="0" rtlCol="0" anchor="t"/>
          <a:lstStyle/>
          <a:p>
            <a:pPr algn="l">
              <a:lnSpc>
                <a:spcPct val="150000"/>
              </a:lnSpc>
            </a:pPr>
            <a:r>
              <a:rPr lang="en-US" sz="1500" b="1" dirty="0">
                <a:solidFill>
                  <a:srgbClr val="FFFFFF"/>
                </a:solidFill>
                <a:latin typeface="Quattrocento Sans" pitchFamily="34" charset="0"/>
                <a:ea typeface="Quattrocento Sans" pitchFamily="34" charset="-122"/>
                <a:cs typeface="Quattrocento Sans" pitchFamily="34" charset="-120"/>
              </a:rPr>
              <a:t>Address the Compensation Gap</a:t>
            </a:r>
            <a:endParaRPr lang="en-US" sz="1500" dirty="0"/>
          </a:p>
          <a:p>
            <a:pPr algn="l">
              <a:lnSpc>
                <a:spcPct val="150000"/>
              </a:lnSpc>
              <a:spcBef>
                <a:spcPts val="400"/>
              </a:spcBef>
            </a:pPr>
            <a:r>
              <a:rPr lang="en-US" sz="1500" dirty="0">
                <a:solidFill>
                  <a:srgbClr val="FFFFFF"/>
                </a:solidFill>
                <a:latin typeface="Quattrocento Sans" pitchFamily="34" charset="0"/>
                <a:ea typeface="Quattrocento Sans" pitchFamily="34" charset="-122"/>
                <a:cs typeface="Quattrocento Sans" pitchFamily="34" charset="-120"/>
              </a:rPr>
              <a:t>Salary satisfaction (4.27) lags work-life balance (5.74) - improve retention through better pay.</a:t>
            </a:r>
            <a:endParaRPr lang="en-US" sz="1500" dirty="0"/>
          </a:p>
        </p:txBody>
      </p:sp>
      <p:sp>
        <p:nvSpPr>
          <p:cNvPr id="14" name="Shape 12"/>
          <p:cNvSpPr/>
          <p:nvPr/>
        </p:nvSpPr>
        <p:spPr>
          <a:xfrm>
            <a:off x="762000" y="3492500"/>
            <a:ext cx="7112000" cy="1270000"/>
          </a:xfrm>
          <a:prstGeom prst="rect">
            <a:avLst/>
          </a:prstGeom>
          <a:solidFill>
            <a:srgbClr val="3A5A62"/>
          </a:solidFill>
          <a:ln/>
        </p:spPr>
      </p:sp>
      <p:sp>
        <p:nvSpPr>
          <p:cNvPr id="15" name="Text 13"/>
          <p:cNvSpPr/>
          <p:nvPr/>
        </p:nvSpPr>
        <p:spPr>
          <a:xfrm>
            <a:off x="965200" y="3581400"/>
            <a:ext cx="635000" cy="381000"/>
          </a:xfrm>
          <a:prstGeom prst="rect">
            <a:avLst/>
          </a:prstGeom>
          <a:noFill/>
          <a:ln/>
        </p:spPr>
        <p:txBody>
          <a:bodyPr wrap="none" lIns="0" tIns="0" rIns="0" bIns="0" rtlCol="0" anchor="ctr"/>
          <a:lstStyle/>
          <a:p>
            <a:pPr algn="ctr">
              <a:lnSpc>
                <a:spcPct val="120000"/>
              </a:lnSpc>
            </a:pPr>
            <a:r>
              <a:rPr lang="en-US" sz="2200" dirty="0">
                <a:solidFill>
                  <a:srgbClr val="C49A3C"/>
                </a:solidFill>
                <a:latin typeface="Oranienbaum" pitchFamily="34" charset="0"/>
                <a:ea typeface="Oranienbaum" pitchFamily="34" charset="-122"/>
                <a:cs typeface="Oranienbaum" pitchFamily="34" charset="-120"/>
              </a:rPr>
              <a:t>04</a:t>
            </a:r>
            <a:endParaRPr lang="en-US" sz="2200" dirty="0"/>
          </a:p>
        </p:txBody>
      </p:sp>
      <p:sp>
        <p:nvSpPr>
          <p:cNvPr id="16" name="Text 14"/>
          <p:cNvSpPr/>
          <p:nvPr/>
        </p:nvSpPr>
        <p:spPr>
          <a:xfrm>
            <a:off x="965200" y="4013200"/>
            <a:ext cx="6705600" cy="660400"/>
          </a:xfrm>
          <a:prstGeom prst="rect">
            <a:avLst/>
          </a:prstGeom>
          <a:noFill/>
          <a:ln/>
        </p:spPr>
        <p:txBody>
          <a:bodyPr wrap="square" lIns="0" tIns="0" rIns="0" bIns="0" rtlCol="0" anchor="t"/>
          <a:lstStyle/>
          <a:p>
            <a:pPr algn="l">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Build Mentorship Programs</a:t>
            </a:r>
            <a:pPr algn="l">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 - 31.7% found breaking into data difficult; structured guidance reduces entry barriers.</a:t>
            </a:r>
            <a:endParaRPr lang="en-US" sz="1400" dirty="0"/>
          </a:p>
        </p:txBody>
      </p:sp>
      <p:sp>
        <p:nvSpPr>
          <p:cNvPr id="17" name="Shape 15"/>
          <p:cNvSpPr/>
          <p:nvPr/>
        </p:nvSpPr>
        <p:spPr>
          <a:xfrm>
            <a:off x="8382000" y="3492500"/>
            <a:ext cx="7112000" cy="1270000"/>
          </a:xfrm>
          <a:prstGeom prst="rect">
            <a:avLst/>
          </a:prstGeom>
          <a:solidFill>
            <a:srgbClr val="3A5A62"/>
          </a:solidFill>
          <a:ln/>
        </p:spPr>
      </p:sp>
      <p:sp>
        <p:nvSpPr>
          <p:cNvPr id="18" name="Text 16"/>
          <p:cNvSpPr/>
          <p:nvPr/>
        </p:nvSpPr>
        <p:spPr>
          <a:xfrm>
            <a:off x="8585200" y="3581400"/>
            <a:ext cx="635000" cy="381000"/>
          </a:xfrm>
          <a:prstGeom prst="rect">
            <a:avLst/>
          </a:prstGeom>
          <a:noFill/>
          <a:ln/>
        </p:spPr>
        <p:txBody>
          <a:bodyPr wrap="none" lIns="0" tIns="0" rIns="0" bIns="0" rtlCol="0" anchor="ctr"/>
          <a:lstStyle/>
          <a:p>
            <a:pPr algn="ctr">
              <a:lnSpc>
                <a:spcPct val="120000"/>
              </a:lnSpc>
            </a:pPr>
            <a:r>
              <a:rPr lang="en-US" sz="2200" dirty="0">
                <a:solidFill>
                  <a:srgbClr val="C49A3C"/>
                </a:solidFill>
                <a:latin typeface="Oranienbaum" pitchFamily="34" charset="0"/>
                <a:ea typeface="Oranienbaum" pitchFamily="34" charset="-122"/>
                <a:cs typeface="Oranienbaum" pitchFamily="34" charset="-120"/>
              </a:rPr>
              <a:t>05</a:t>
            </a:r>
            <a:endParaRPr lang="en-US" sz="2200" dirty="0"/>
          </a:p>
        </p:txBody>
      </p:sp>
      <p:sp>
        <p:nvSpPr>
          <p:cNvPr id="19" name="Text 17"/>
          <p:cNvSpPr/>
          <p:nvPr/>
        </p:nvSpPr>
        <p:spPr>
          <a:xfrm>
            <a:off x="8585200" y="4013200"/>
            <a:ext cx="6705600" cy="660400"/>
          </a:xfrm>
          <a:prstGeom prst="rect">
            <a:avLst/>
          </a:prstGeom>
          <a:noFill/>
          <a:ln/>
        </p:spPr>
        <p:txBody>
          <a:bodyPr wrap="square" lIns="0" tIns="0" rIns="0" bIns="0" rtlCol="0" anchor="t"/>
          <a:lstStyle/>
          <a:p>
            <a:pPr algn="l">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Leverage Geographic Hiring</a:t>
            </a:r>
            <a:pPr algn="l">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 - U.S., Canada, and India show strong data talent pools for recruitment.</a:t>
            </a:r>
            <a:endParaRPr lang="en-US" sz="1400" dirty="0"/>
          </a:p>
        </p:txBody>
      </p:sp>
      <p:sp>
        <p:nvSpPr>
          <p:cNvPr id="20" name="Text 18"/>
          <p:cNvSpPr/>
          <p:nvPr/>
        </p:nvSpPr>
        <p:spPr>
          <a:xfrm>
            <a:off x="762000" y="5080000"/>
            <a:ext cx="14732000" cy="355600"/>
          </a:xfrm>
          <a:prstGeom prst="rect">
            <a:avLst/>
          </a:prstGeom>
          <a:noFill/>
          <a:ln/>
        </p:spPr>
        <p:txBody>
          <a:bodyPr wrap="none" lIns="0" tIns="0" rIns="0" bIns="0" rtlCol="0" anchor="ctr"/>
          <a:lstStyle/>
          <a:p>
            <a:pPr algn="ctr">
              <a:lnSpc>
                <a:spcPct val="120000"/>
              </a:lnSpc>
            </a:pPr>
            <a:r>
              <a:rPr lang="en-US" sz="1800" dirty="0">
                <a:solidFill>
                  <a:srgbClr val="C49A3C"/>
                </a:solidFill>
                <a:latin typeface="Oranienbaum" pitchFamily="34" charset="0"/>
                <a:ea typeface="Oranienbaum" pitchFamily="34" charset="-122"/>
                <a:cs typeface="Oranienbaum" pitchFamily="34" charset="-120"/>
              </a:rPr>
              <a:t>SKILLS DEMONSTRATED</a:t>
            </a:r>
            <a:endParaRPr lang="en-US" sz="1800" dirty="0"/>
          </a:p>
        </p:txBody>
      </p:sp>
      <p:sp>
        <p:nvSpPr>
          <p:cNvPr id="21" name="Shape 19"/>
          <p:cNvSpPr/>
          <p:nvPr/>
        </p:nvSpPr>
        <p:spPr>
          <a:xfrm>
            <a:off x="5588000" y="5499100"/>
            <a:ext cx="5080000" cy="12700"/>
          </a:xfrm>
          <a:prstGeom prst="rect">
            <a:avLst/>
          </a:prstGeom>
          <a:solidFill>
            <a:srgbClr val="8B8175"/>
          </a:solidFill>
          <a:ln/>
        </p:spPr>
      </p:sp>
      <p:sp>
        <p:nvSpPr>
          <p:cNvPr id="22" name="Text 20"/>
          <p:cNvSpPr/>
          <p:nvPr/>
        </p:nvSpPr>
        <p:spPr>
          <a:xfrm>
            <a:off x="1524000" y="5651500"/>
            <a:ext cx="13208000" cy="762000"/>
          </a:xfrm>
          <a:prstGeom prst="rect">
            <a:avLst/>
          </a:prstGeom>
          <a:noFill/>
          <a:ln/>
        </p:spPr>
        <p:txBody>
          <a:bodyPr wrap="square" lIns="0" tIns="0" rIns="0" bIns="0" rtlCol="0" anchor="t"/>
          <a:lstStyle/>
          <a:p>
            <a:pPr algn="ct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Data Cleaning  |  Power Query  |  DAX Measures  |  Data Modeling  |  Dashboard Design  |  Business Intelligence  |  Data Visualization  |  Analytical Thinking  |  Interactive Reporting</a:t>
            </a:r>
            <a:endParaRPr lang="en-US" sz="1400" dirty="0"/>
          </a:p>
        </p:txBody>
      </p:sp>
      <p:sp>
        <p:nvSpPr>
          <p:cNvPr id="23" name="Shape 21"/>
          <p:cNvSpPr/>
          <p:nvPr/>
        </p:nvSpPr>
        <p:spPr>
          <a:xfrm>
            <a:off x="6223000" y="6731000"/>
            <a:ext cx="3810000" cy="25400"/>
          </a:xfrm>
          <a:prstGeom prst="rect">
            <a:avLst/>
          </a:prstGeom>
          <a:solidFill>
            <a:srgbClr val="C49A3C"/>
          </a:solidFill>
          <a:ln/>
        </p:spPr>
      </p:sp>
      <p:sp>
        <p:nvSpPr>
          <p:cNvPr id="24" name="Text 22"/>
          <p:cNvSpPr/>
          <p:nvPr/>
        </p:nvSpPr>
        <p:spPr>
          <a:xfrm>
            <a:off x="3048000" y="6985000"/>
            <a:ext cx="10160000" cy="635000"/>
          </a:xfrm>
          <a:prstGeom prst="rect">
            <a:avLst/>
          </a:prstGeom>
          <a:noFill/>
          <a:ln/>
        </p:spPr>
        <p:txBody>
          <a:bodyPr wrap="none" lIns="0" tIns="0" rIns="0" bIns="0" rtlCol="0" anchor="ctr"/>
          <a:lstStyle/>
          <a:p>
            <a:pPr algn="ctr">
              <a:lnSpc>
                <a:spcPct val="120000"/>
              </a:lnSpc>
            </a:pPr>
            <a:r>
              <a:rPr lang="en-US" sz="3600" spc="300" kern="0" dirty="0">
                <a:solidFill>
                  <a:srgbClr val="FFFFFF"/>
                </a:solidFill>
                <a:latin typeface="Oranienbaum" pitchFamily="34" charset="0"/>
                <a:ea typeface="Oranienbaum" pitchFamily="34" charset="-122"/>
                <a:cs typeface="Oranienbaum" pitchFamily="34" charset="-120"/>
              </a:rPr>
              <a:t>THANK YOU</a:t>
            </a:r>
            <a:endParaRPr lang="en-US" sz="3600" dirty="0"/>
          </a:p>
        </p:txBody>
      </p:sp>
      <p:sp>
        <p:nvSpPr>
          <p:cNvPr id="25" name="Text 23"/>
          <p:cNvSpPr/>
          <p:nvPr/>
        </p:nvSpPr>
        <p:spPr>
          <a:xfrm>
            <a:off x="4318000" y="7721600"/>
            <a:ext cx="7620000" cy="762000"/>
          </a:xfrm>
          <a:prstGeom prst="rect">
            <a:avLst/>
          </a:prstGeom>
          <a:noFill/>
          <a:ln/>
        </p:spPr>
        <p:txBody>
          <a:bodyPr wrap="square" lIns="0" tIns="0" rIns="0" bIns="0" rtlCol="0" anchor="t"/>
          <a:lstStyle/>
          <a:p>
            <a:pPr algn="ctr">
              <a:lnSpc>
                <a:spcPct val="160000"/>
              </a:lnSpc>
            </a:pPr>
            <a:r>
              <a:rPr lang="en-US" sz="1400" dirty="0">
                <a:solidFill>
                  <a:srgbClr val="8B8175"/>
                </a:solidFill>
                <a:latin typeface="Quattrocento Sans" pitchFamily="34" charset="0"/>
                <a:ea typeface="Quattrocento Sans" pitchFamily="34" charset="-122"/>
                <a:cs typeface="Quattrocento Sans" pitchFamily="34" charset="-120"/>
              </a:rPr>
              <a:t>Anjali Sharma  |  B.Tech AIDS (2023-2027)</a:t>
            </a:r>
            <a:endParaRPr lang="en-US" sz="1400" dirty="0"/>
          </a:p>
          <a:p>
            <a:pPr algn="ctr">
              <a:lnSpc>
                <a:spcPct val="160000"/>
              </a:lnSpc>
            </a:pPr>
            <a:r>
              <a:rPr lang="en-US" sz="1400" dirty="0">
                <a:solidFill>
                  <a:srgbClr val="8B8175"/>
                </a:solidFill>
                <a:latin typeface="Quattrocento Sans" pitchFamily="34" charset="0"/>
                <a:ea typeface="Quattrocento Sans" pitchFamily="34" charset="-122"/>
                <a:cs typeface="Quattrocento Sans" pitchFamily="34" charset="-120"/>
              </a:rPr>
              <a:t>Aspiring Data Analyst  |  Power BI  |  SQL  |  Python  |  Excel</a:t>
            </a:r>
            <a:endParaRPr lang="en-US" sz="1400" dirty="0"/>
          </a:p>
        </p:txBody>
      </p:sp>
      <p:sp>
        <p:nvSpPr>
          <p:cNvPr id="26" name="Shape 24"/>
          <p:cNvSpPr/>
          <p:nvPr/>
        </p:nvSpPr>
        <p:spPr>
          <a:xfrm>
            <a:off x="0" y="9093200"/>
            <a:ext cx="16256000" cy="50800"/>
          </a:xfrm>
          <a:prstGeom prst="rect">
            <a:avLst/>
          </a:prstGeom>
          <a:solidFill>
            <a:srgbClr val="C49A3C"/>
          </a:solidFill>
          <a:ln/>
        </p:spPr>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Professional Survey Breakdown</dc:title>
  <dc:subject>Data Professional Survey Breakdown</dc:subject>
  <dc:creator>Kimi</dc:creator>
  <cp:lastModifiedBy>Kimi</cp:lastModifiedBy>
  <cp:revision>1</cp:revision>
  <dcterms:created xsi:type="dcterms:W3CDTF">2026-07-13T06:44:10Z</dcterms:created>
  <dcterms:modified xsi:type="dcterms:W3CDTF">2026-07-13T06:44:10Z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{"Label":"Data Professional Survey Breakdown","ContentProducer":"001191110108MACG2KBH8F10000","ProduceID":"19f597f3-0d82-8bd5-8000-00002d72ae78","ReservedCode1":"","ContentPropagator":"001191110108MACG2KBH8F20000","PropagateID":"19f597b7-3262-8169-8000-09f7cc707e2b","ReservedCode2":""}</vt:lpwstr>
  </property>
</Properties>
</file>